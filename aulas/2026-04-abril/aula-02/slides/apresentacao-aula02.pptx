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377440" cy="457200"/>
          </a:xfrm>
          <a:prstGeom prst="roundRect">
            <a:avLst>
              <a:gd name="adj" fmla="val 10000"/>
            </a:avLst>
          </a:prstGeom>
          <a:solidFill>
            <a:srgbClr val="38B2AC"/>
          </a:solidFill>
          <a:ln w="12700">
            <a:solidFill>
              <a:srgbClr val="2C9A9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02  |  FASE 1 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FUNDAÇÃO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09728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na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Prática: 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DBeaver + SQLite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Configurar, explorar tabelas e começar o domínio Python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60350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de Abril de 2026  •  n7 Tech  •  Thiago &amp; Ademilson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6858000"/>
          </a:xfrm>
          <a:prstGeom prst="rect">
            <a:avLst/>
          </a:prstGeom>
          <a:solidFill>
            <a:srgbClr val="172A4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0"/>
            <a:ext cx="2743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vamos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fazer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DBeaver, tabelas, domínio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B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e CRUD na prática.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6355080"/>
            <a:ext cx="1188720" cy="320040"/>
          </a:xfrm>
          <a:prstGeom prst="roundRect">
            <a:avLst>
              <a:gd name="adj" fmla="val 11429"/>
            </a:avLst>
          </a:prstGeom>
          <a:solidFill>
            <a:srgbClr val="38B2AC"/>
          </a:solidFill>
          <a:ln w="12700">
            <a:solidFill>
              <a:srgbClr val="2C9A9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63550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n7-portaria-ai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931920" y="6400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0" y="64008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o DBeaver com SQLite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931920" y="1234440"/>
            <a:ext cx="749808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0" y="1508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0" y="15087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Explorar as tabelas do nosso banco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931920" y="2103120"/>
            <a:ext cx="749808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31920" y="23774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juntos: moradores, residências, acessos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931920" y="2971800"/>
            <a:ext cx="749808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31920" y="32461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32461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o domínio: SQL → Python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931920" y="3840480"/>
            <a:ext cx="749808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31920" y="41148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0" y="41148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o CRUD de moradores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931920" y="4709160"/>
            <a:ext cx="749808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31920" y="49834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0" y="498348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da semana: mapear mais tabelas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DBeaver — Seu Explorador de Bancos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DBeaver é como um "explorador de arquivos" para bancos de dados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560320" cy="34747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828800"/>
            <a:ext cx="2560320" cy="54864"/>
          </a:xfrm>
          <a:prstGeom prst="rect">
            <a:avLst/>
          </a:prstGeom>
          <a:solidFill>
            <a:srgbClr val="38B2A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19456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Vê tabelas sem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código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828800"/>
            <a:ext cx="2560320" cy="34747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91840" y="1828800"/>
            <a:ext cx="256032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3291840" y="219456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3291840" y="32918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74720" y="374904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Edition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free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1828800"/>
            <a:ext cx="2560320" cy="34747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828800"/>
            <a:ext cx="2560320" cy="54864"/>
          </a:xfrm>
          <a:prstGeom prst="rect">
            <a:avLst/>
          </a:prstGeom>
          <a:solidFill>
            <a:srgbClr val="E8734A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219456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6126480" y="32918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09360" y="374904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com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nosso banco!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61120" y="1828800"/>
            <a:ext cx="2560320" cy="34747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0" y="1828800"/>
            <a:ext cx="256032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0" y="219456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8961120" y="32918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 SQL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144000" y="374904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 e testa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0" y="6035040"/>
            <a:ext cx="12161520" cy="822960"/>
          </a:xfrm>
          <a:prstGeom prst="rect">
            <a:avLst/>
          </a:prstGeom>
          <a:solidFill>
            <a:srgbClr val="38B2A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0350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Download: dbeaver.io/download — Escolha Community Edition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6858000"/>
          </a:xfrm>
          <a:prstGeom prst="rect">
            <a:avLst/>
          </a:prstGeom>
          <a:solidFill>
            <a:srgbClr val="172A4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DBeaver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(Passo a Passo)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329184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cada passo.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B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travar, peça ajuda!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6355080"/>
            <a:ext cx="1188720" cy="320040"/>
          </a:xfrm>
          <a:prstGeom prst="roundRect">
            <a:avLst>
              <a:gd name="adj" fmla="val 11429"/>
            </a:avLst>
          </a:prstGeom>
          <a:solidFill>
            <a:srgbClr val="38B2AC"/>
          </a:solidFill>
          <a:ln w="12700">
            <a:solidFill>
              <a:srgbClr val="2C9A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3550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n7-portaria-ai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931920" y="4572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9120" y="411480"/>
            <a:ext cx="7132320" cy="4572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9050">
            <a:solidFill>
              <a:srgbClr val="38B2A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548640"/>
            <a:ext cx="66751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Abra o DBeaver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89120" y="96012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ícone do DBeaver na área de trabalho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31920" y="16002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1554480"/>
            <a:ext cx="7132320" cy="4572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9050">
            <a:solidFill>
              <a:srgbClr val="38B2A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691640"/>
            <a:ext cx="66751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Database → New Connection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89120" y="210312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clique no botão "+" na barra superior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931920" y="27432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89120" y="2697480"/>
            <a:ext cx="7132320" cy="4572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9050">
            <a:solidFill>
              <a:srgbClr val="38B2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17720" y="2834640"/>
            <a:ext cx="66751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Escolha "SQLite" → Next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89120" y="324612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lista de bancos, procure SQLite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31920" y="38862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89120" y="3840480"/>
            <a:ext cx="7132320" cy="4572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9050">
            <a:solidFill>
              <a:srgbClr val="38B2A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3977640"/>
            <a:ext cx="66751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Browse → portaria.db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89120" y="438912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Navegue até: n7-portaria-ai/portaria.db (raiz do projeto)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931920" y="50292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89120" y="4983480"/>
            <a:ext cx="7132320" cy="4572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9050">
            <a:solidFill>
              <a:srgbClr val="38B2A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0" y="5120640"/>
            <a:ext cx="66751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Test Connection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389120" y="553212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 aparecer: "Connected!" — clique Finish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6858000"/>
          </a:xfrm>
          <a:prstGeom prst="rect">
            <a:avLst/>
          </a:prstGeom>
          <a:solidFill>
            <a:srgbClr val="172A4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Banco!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DBeaver)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32918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Finish, a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B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 aparece no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B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esquerdo.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6355080"/>
            <a:ext cx="1188720" cy="320040"/>
          </a:xfrm>
          <a:prstGeom prst="roundRect">
            <a:avLst>
              <a:gd name="adj" fmla="val 11429"/>
            </a:avLst>
          </a:prstGeom>
          <a:solidFill>
            <a:srgbClr val="38B2AC"/>
          </a:solidFill>
          <a:ln w="12700">
            <a:solidFill>
              <a:srgbClr val="2C9A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3550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n7-portaria-ai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931920" y="4572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9120" y="411480"/>
            <a:ext cx="7132320" cy="4572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9050">
            <a:solidFill>
              <a:srgbClr val="38B2A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548640"/>
            <a:ext cx="66751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portaria.db → Tables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89120" y="96012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Expanda a conexão no painel esquerdo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31920" y="16002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1554480"/>
            <a:ext cx="7132320" cy="4572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9050">
            <a:solidFill>
              <a:srgbClr val="38B2A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691640"/>
            <a:ext cx="66751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Clique em "moradores"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89120" y="210312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 Properties mostra as colunas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931920" y="27432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89120" y="2697480"/>
            <a:ext cx="7132320" cy="4572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9050">
            <a:solidFill>
              <a:srgbClr val="38B2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17720" y="2834640"/>
            <a:ext cx="66751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Aba Data → ver registros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89120" y="324612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Veja os 10 moradores cadastrados!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31920" y="38862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89120" y="3840480"/>
            <a:ext cx="7132320" cy="4572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9050">
            <a:solidFill>
              <a:srgbClr val="38B2A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3977640"/>
            <a:ext cx="66751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Repita para residencias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89120" y="438912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visitantes, funcionarios, acessos...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931920" y="50292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89120" y="4983480"/>
            <a:ext cx="7132320" cy="4572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9050">
            <a:solidFill>
              <a:srgbClr val="38B2A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0" y="5120640"/>
            <a:ext cx="66751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Editor SQL → consultas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389120" y="553212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SQL Editor para escrever SELECTs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Projeto: 9 Tabelas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tabela guarda um tipo de informação — como gavetas num armário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54864" cy="1143000"/>
          </a:xfrm>
          <a:prstGeom prst="rect">
            <a:avLst/>
          </a:prstGeom>
          <a:solidFill>
            <a:srgbClr val="38B2A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97280" y="16916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21031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pessoais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(nome, CPF, foto)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06240" y="155448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1554480"/>
            <a:ext cx="54864" cy="1143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846320" y="16916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residencias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21031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Apartamentos,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casas, blocos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55280" y="155448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55280" y="1554480"/>
            <a:ext cx="54864" cy="1143000"/>
          </a:xfrm>
          <a:prstGeom prst="rect">
            <a:avLst/>
          </a:prstGeom>
          <a:solidFill>
            <a:srgbClr val="E8734A"/>
          </a:solidFill>
          <a:ln/>
        </p:spPr>
      </p:sp>
      <p:sp>
        <p:nvSpPr>
          <p:cNvPr id="16" name="Text 14"/>
          <p:cNvSpPr/>
          <p:nvPr/>
        </p:nvSpPr>
        <p:spPr>
          <a:xfrm>
            <a:off x="813816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595360" y="16916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morador_res.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95360" y="21031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mora onde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(ponte N:N)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017520"/>
            <a:ext cx="54864" cy="1143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154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97280" y="31546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visitantes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35661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visita o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condomínio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06240" y="301752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06240" y="3017520"/>
            <a:ext cx="54864" cy="1143000"/>
          </a:xfrm>
          <a:prstGeom prst="rect">
            <a:avLst/>
          </a:prstGeom>
          <a:solidFill>
            <a:srgbClr val="E05252"/>
          </a:solidFill>
          <a:ln/>
        </p:spPr>
      </p:sp>
      <p:sp>
        <p:nvSpPr>
          <p:cNvPr id="26" name="Text 24"/>
          <p:cNvSpPr/>
          <p:nvPr/>
        </p:nvSpPr>
        <p:spPr>
          <a:xfrm>
            <a:off x="4389120" y="3154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846320" y="31546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funcionarios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846320" y="35661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Porteiros,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zeladores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955280" y="301752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55280" y="3017520"/>
            <a:ext cx="54864" cy="1143000"/>
          </a:xfrm>
          <a:prstGeom prst="rect">
            <a:avLst/>
          </a:prstGeom>
          <a:solidFill>
            <a:srgbClr val="38B2AC"/>
          </a:solidFill>
          <a:ln/>
        </p:spPr>
      </p:sp>
      <p:sp>
        <p:nvSpPr>
          <p:cNvPr id="31" name="Text 29"/>
          <p:cNvSpPr/>
          <p:nvPr/>
        </p:nvSpPr>
        <p:spPr>
          <a:xfrm>
            <a:off x="8138160" y="3154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8595360" y="31546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veiculos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595360" y="35661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Carros e motos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48056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480560"/>
            <a:ext cx="54864" cy="1143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4617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1097280" y="46177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97280" y="50292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Entradas e saídas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condomínio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206240" y="448056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206240" y="4480560"/>
            <a:ext cx="54864" cy="1143000"/>
          </a:xfrm>
          <a:prstGeom prst="rect">
            <a:avLst/>
          </a:prstGeom>
          <a:solidFill>
            <a:srgbClr val="E8734A"/>
          </a:solidFill>
          <a:ln/>
        </p:spPr>
      </p:sp>
      <p:sp>
        <p:nvSpPr>
          <p:cNvPr id="41" name="Text 39"/>
          <p:cNvSpPr/>
          <p:nvPr/>
        </p:nvSpPr>
        <p:spPr>
          <a:xfrm>
            <a:off x="4389120" y="4617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4846320" y="46177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config_acesso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846320" y="50292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955280" y="448056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955280" y="4480560"/>
            <a:ext cx="54864" cy="1143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6" name="Text 44"/>
          <p:cNvSpPr/>
          <p:nvPr/>
        </p:nvSpPr>
        <p:spPr>
          <a:xfrm>
            <a:off x="8138160" y="4617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8595360" y="46177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595360" y="50292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do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condomínio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0" y="6035040"/>
            <a:ext cx="12161520" cy="822960"/>
          </a:xfrm>
          <a:prstGeom prst="rect">
            <a:avLst/>
          </a:prstGeom>
          <a:solidFill>
            <a:srgbClr val="38B2AC"/>
          </a:solidFill>
          <a:ln/>
        </p:spPr>
      </p:sp>
      <p:sp>
        <p:nvSpPr>
          <p:cNvPr id="50" name="Text 48"/>
          <p:cNvSpPr/>
          <p:nvPr/>
        </p:nvSpPr>
        <p:spPr>
          <a:xfrm>
            <a:off x="457200" y="60350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tabelas — do cadastro básico até inteligência artificial!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Tabela: moradores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PESSOAIS de cada morador — CPF, foto, biometria, LGPD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47120" cy="4572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544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2AC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3832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INTEGER PRIMARY KEY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766560" y="1554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Chave primária automática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57400"/>
            <a:ext cx="11247120" cy="457200"/>
          </a:xfrm>
          <a:prstGeom prst="roundRect">
            <a:avLst>
              <a:gd name="adj" fmla="val 8000"/>
            </a:avLst>
          </a:prstGeom>
          <a:solidFill>
            <a:srgbClr val="172A45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574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2AC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nome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83280" y="2057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TEXT NOT NULL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66560" y="20574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completo — obrigatório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11247120" cy="4572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603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2AC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cpf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83280" y="25603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TEXT UNIQUE NOT NULL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766560" y="25603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dígitos, não repete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11247120" cy="457200"/>
          </a:xfrm>
          <a:prstGeom prst="roundRect">
            <a:avLst>
              <a:gd name="adj" fmla="val 8000"/>
            </a:avLst>
          </a:prstGeom>
          <a:solidFill>
            <a:srgbClr val="172A45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063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2AC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telefone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383280" y="3063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TEXT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766560" y="30632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566160"/>
            <a:ext cx="11247120" cy="4572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5661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2AC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email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383280" y="3566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TEXT CHECK(@%.%)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66560" y="35661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validação de formato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069080"/>
            <a:ext cx="11247120" cy="457200"/>
          </a:xfrm>
          <a:prstGeom prst="roundRect">
            <a:avLst>
              <a:gd name="adj" fmla="val 8000"/>
            </a:avLst>
          </a:prstGeom>
          <a:solidFill>
            <a:srgbClr val="172A45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0690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2AC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foto / biometria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383280" y="4069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BLOB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66560" y="40690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 da imagem / digital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4572000"/>
            <a:ext cx="11247120" cy="4572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4572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2AC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termos_lgpd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383280" y="4572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BLOB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766560" y="45720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dos termos aceitos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5074920"/>
            <a:ext cx="11247120" cy="457200"/>
          </a:xfrm>
          <a:prstGeom prst="roundRect">
            <a:avLst>
              <a:gd name="adj" fmla="val 8000"/>
            </a:avLst>
          </a:prstGeom>
          <a:solidFill>
            <a:srgbClr val="172A45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50749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2AC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ativo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383280" y="5074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BOOLEAN DEFAULT 1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66560" y="50749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= ativo, 0 = soft delete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577840"/>
            <a:ext cx="11247120" cy="4572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/>
        </p:spPr>
      </p:sp>
      <p:sp>
        <p:nvSpPr>
          <p:cNvPr id="37" name="Text 35"/>
          <p:cNvSpPr/>
          <p:nvPr/>
        </p:nvSpPr>
        <p:spPr>
          <a:xfrm>
            <a:off x="640080" y="55778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2AC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correlation_id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383280" y="5577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TEXT UNIQUE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766560" y="55778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para sincronização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57200" y="6217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no DBeaver: portaria.db → Tables → moradores → Data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 Tabelas se Conectam?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tabela morador_residencia é a "ponte" entre moradores e residências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47120" cy="109728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916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8B2AC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moradores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0" y="16916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id, nome, cpf, telefone, email, foto, biometria, ativo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0" y="21945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PESSOAIS do morador — sem endereço!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71600" y="2788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morador_id (FK)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11247120" cy="109728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2461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734A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morador_residencia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32461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morador_id (FK), residencia_id (FK), tipo_morador, dt_inicio, dt_fim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PONTE — conecta pessoa ao endereço. Um morador pode ter vários aptos!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71600" y="4343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residencia_id (FK)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754880"/>
            <a:ext cx="11247120" cy="109728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8006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residencias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57600" y="4800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id, numero_residencia, bloco, andar, tipo_moradia, interfone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0" y="53035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da UNIDADE — sugestões do Ademilson: tipo_moradia, interfone!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n7-portaria-ai  •  Neural Tech  •  Aula 02  •  2026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→ Python: Mapeando o Domínio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tabela do banco vira uma classe Python. Cada coluna vira um atributo.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(banco de dados)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5303520" cy="2194560"/>
          </a:xfrm>
          <a:prstGeom prst="roundRect">
            <a:avLst>
              <a:gd name="adj" fmla="val 2500"/>
            </a:avLst>
          </a:prstGeom>
          <a:solidFill>
            <a:srgbClr val="1E293B"/>
          </a:solidFill>
          <a:ln w="19050">
            <a:solidFill>
              <a:srgbClr val="38B2A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057400"/>
            <a:ext cx="48463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CREATE TABLE moradores (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id    INTEGER PRIMARY KEY,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nome  TEXT NOT NULL,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cpf   TEXT UNIQUE NOT NULL,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ativo BOOLEAN DEFAULT 1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);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577840" y="256032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(classe @dataclass)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920240"/>
            <a:ext cx="5303520" cy="2194560"/>
          </a:xfrm>
          <a:prstGeom prst="roundRect">
            <a:avLst>
              <a:gd name="adj" fmla="val 2500"/>
            </a:avLst>
          </a:prstGeom>
          <a:solidFill>
            <a:srgbClr val="1E293B"/>
          </a:solidFill>
          <a:ln w="19050">
            <a:solidFill>
              <a:srgbClr val="38B2A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2057400"/>
            <a:ext cx="48463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@dataclass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class Morador: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nome: str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cpf: str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id: Optional[int] = None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ativo: bool = True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389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Tradução de Tipos: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4800600"/>
            <a:ext cx="11247120" cy="32004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8006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TEXT NOT NULL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0" y="48006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17920" y="48006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734A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str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5138928"/>
            <a:ext cx="11247120" cy="320040"/>
          </a:xfrm>
          <a:prstGeom prst="roundRect">
            <a:avLst>
              <a:gd name="adj" fmla="val 11429"/>
            </a:avLst>
          </a:prstGeom>
          <a:solidFill>
            <a:srgbClr val="172A45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13892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TEXT (pode ser NULL)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0" y="513892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17920" y="513892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734A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Optional[str] = None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5477256"/>
            <a:ext cx="11247120" cy="32004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477256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INTEGER PRIMARY KEY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0" y="547725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17920" y="5477256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734A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Optional[int] = None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815584"/>
            <a:ext cx="11247120" cy="320040"/>
          </a:xfrm>
          <a:prstGeom prst="roundRect">
            <a:avLst>
              <a:gd name="adj" fmla="val 11429"/>
            </a:avLst>
          </a:prstGeom>
          <a:solidFill>
            <a:srgbClr val="172A45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815584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BOOLEAN DEFAULT 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29200" y="581558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17920" y="5815584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734A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bool = True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6153912"/>
            <a:ext cx="11247120" cy="32004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615391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BLOB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29200" y="615391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17920" y="615391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734A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Optional[bytes] = None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6492240"/>
            <a:ext cx="11247120" cy="320040"/>
          </a:xfrm>
          <a:prstGeom prst="roundRect">
            <a:avLst>
              <a:gd name="adj" fmla="val 11429"/>
            </a:avLst>
          </a:prstGeom>
          <a:solidFill>
            <a:srgbClr val="172A45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64922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DATETIME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29200" y="649224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17920" y="64922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734A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Optional[datetime] = None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morador.py — Modelo Completo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2AC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Arquivo: src/core/models/morador.py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4389120"/>
          </a:xfrm>
          <a:prstGeom prst="roundRect">
            <a:avLst>
              <a:gd name="adj" fmla="val 1250"/>
            </a:avLst>
          </a:prstGeom>
          <a:solidFill>
            <a:srgbClr val="1E293B"/>
          </a:solidFill>
          <a:ln w="19050">
            <a:solidFill>
              <a:srgbClr val="38B2A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from dataclasses import dataclass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from typing import Optional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@dataclass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class Morador: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# --- Obrigatórios (NOT NULL no SQL) ---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nome: str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cpf: str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correlation_id: str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# --- Opcionais (podem ser NULL) ---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id: Optional[int] = None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telefone: Optional[str] = None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email: Optional[str] = None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foto: Optional[bytes] = None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biometria: Optional[bytes] = None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ativo: bool = True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def __post_init__(self):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    self._validar_cpf()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    self._validar_email()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arquivo já está pronto! Abra, leia os comentários e teste com: python morador.py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n7-portaria-ai  •  Neural Tech  •  Aula 02  •  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— As 4 Operações do Programador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app do mundo usa CRUD: WhatsApp, Instagram, Netflix...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560320" cy="34747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828800"/>
            <a:ext cx="2560320" cy="54864"/>
          </a:xfrm>
          <a:prstGeom prst="rect">
            <a:avLst/>
          </a:prstGeom>
          <a:solidFill>
            <a:srgbClr val="38B2A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19456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Cadastrar morador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INTO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828800"/>
            <a:ext cx="2560320" cy="34747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91840" y="1828800"/>
            <a:ext cx="256032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3291840" y="219456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3291840" y="32918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74720" y="374904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 / buscar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FROM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1828800"/>
            <a:ext cx="2560320" cy="34747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828800"/>
            <a:ext cx="2560320" cy="54864"/>
          </a:xfrm>
          <a:prstGeom prst="rect">
            <a:avLst/>
          </a:prstGeom>
          <a:solidFill>
            <a:srgbClr val="E8734A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219456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6126480" y="32918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09360" y="374904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Atualizar telefone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SET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61120" y="1828800"/>
            <a:ext cx="2560320" cy="34747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0" y="1828800"/>
            <a:ext cx="2560320" cy="54864"/>
          </a:xfrm>
          <a:prstGeom prst="rect">
            <a:avLst/>
          </a:prstGeom>
          <a:solidFill>
            <a:srgbClr val="E05252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0" y="219456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8961120" y="32918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144000" y="374904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Desativar (soft)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ativo=0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0" y="6035040"/>
            <a:ext cx="12161520" cy="822960"/>
          </a:xfrm>
          <a:prstGeom prst="rect">
            <a:avLst/>
          </a:prstGeom>
          <a:solidFill>
            <a:srgbClr val="38B2A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0350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Delete: nunca apagamos dados — marcamos como inativo (ativo = 0)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SQLite: A Conversa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SQL é o mesmo que você viu no DBeaver — Python só executa!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05840" y="1508760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9050">
            <a:solidFill>
              <a:srgbClr val="38B2A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16459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conexao = sqlite3.connect('portaria.db')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875520" y="15544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 ao banco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05840" y="2468880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9050">
            <a:solidFill>
              <a:srgbClr val="38B2A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34440" y="2606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cursor.execute("SELECT nome FROM moradores")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875520" y="2514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Executar SQL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4747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05840" y="3429000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9050">
            <a:solidFill>
              <a:srgbClr val="38B2A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356616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moradores = cursor.fetchall()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875520" y="34747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resultados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4348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05840" y="4389120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9050">
            <a:solidFill>
              <a:srgbClr val="38B2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34440" y="452628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conexao.commit()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875520" y="44348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 mudanças (INSERT/UPDATE)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53949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05840" y="5349240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9050">
            <a:solidFill>
              <a:srgbClr val="38B2A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34440" y="548640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conexao.close()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875520" y="53949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Fechar conexão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n7-portaria-ai  •  Neural Tech  •  Aula 02  •  2026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 da
</a:t>
            </a:r>
            <a:pPr algn="l" indent="0" marL="0">
              <a:buNone/>
            </a:pPr>
            <a:r>
              <a:rPr lang="en-US" sz="48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Prática!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Vamos configurar o DBeaver e rodar o CRUD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B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33832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DBeaver e conectar ao portaria.db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B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39776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Explorar as tabelas visualmente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4572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B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45720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o moradores_crud.py no terminal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B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71600" y="5166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Cadastrar um morador novo e listar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5760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B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morador.py e ler os comentários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da Semana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já tem moradores mapeado. Agora é sua vez com as outras tabelas!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1247120" cy="777240"/>
          </a:xfrm>
          <a:prstGeom prst="roundRect">
            <a:avLst>
              <a:gd name="adj" fmla="val 4706"/>
            </a:avLst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828800"/>
            <a:ext cx="73152" cy="777240"/>
          </a:xfrm>
          <a:prstGeom prst="rect">
            <a:avLst/>
          </a:prstGeom>
          <a:solidFill>
            <a:srgbClr val="38B2A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2880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8B2AC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visitante.py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0" y="1828800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46320" y="182880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visitantes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0" y="182880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88920"/>
            <a:ext cx="11247120" cy="777240"/>
          </a:xfrm>
          <a:prstGeom prst="roundRect">
            <a:avLst>
              <a:gd name="adj" fmla="val 4706"/>
            </a:avLst>
          </a:prstGeom>
          <a:solidFill>
            <a:srgbClr val="1E293B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788920"/>
            <a:ext cx="73152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78892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funcionario.py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114800" y="2788920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278892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funcionarios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0" y="278892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11247120" cy="777240"/>
          </a:xfrm>
          <a:prstGeom prst="roundRect">
            <a:avLst>
              <a:gd name="adj" fmla="val 4706"/>
            </a:avLst>
          </a:prstGeom>
          <a:solidFill>
            <a:srgbClr val="1E293B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749040"/>
            <a:ext cx="73152" cy="777240"/>
          </a:xfrm>
          <a:prstGeom prst="rect">
            <a:avLst/>
          </a:prstGeom>
          <a:solidFill>
            <a:srgbClr val="E8734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74904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734A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residencia.py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114800" y="3749040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374904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residencias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86800" y="374904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4709160"/>
            <a:ext cx="11247120" cy="777240"/>
          </a:xfrm>
          <a:prstGeom prst="roundRect">
            <a:avLst>
              <a:gd name="adj" fmla="val 4706"/>
            </a:avLst>
          </a:prstGeom>
          <a:solidFill>
            <a:srgbClr val="1E293B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4709160"/>
            <a:ext cx="73152" cy="7772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70916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veiculo.py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114800" y="4709160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46320" y="470916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veiculos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686800" y="470916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" y="56692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o GUIA_MAPEAMENTO.md em src/core/models/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B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receita é sempre a mesma: olhe o CREATE TABLE → crie a classe!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n7-portaria-ai  •  Neural Tech  •  Aula 02  •  2026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Parabéns pelo
</a:t>
            </a:r>
            <a:pPr algn="l" indent="0" marL="0">
              <a:buNone/>
            </a:pPr>
            <a:r>
              <a:rPr lang="en-US" sz="48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passo!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457200" y="2560320"/>
            <a:ext cx="7315200" cy="2560320"/>
          </a:xfrm>
          <a:prstGeom prst="roundRect">
            <a:avLst>
              <a:gd name="adj" fmla="val 2143"/>
            </a:avLst>
          </a:prstGeom>
          <a:solidFill>
            <a:srgbClr val="1E293B"/>
          </a:solidFill>
          <a:ln w="12700">
            <a:solidFill>
              <a:srgbClr val="38B2A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651760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aprendemos hoje: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6766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Configurou o DBeaver com SQLite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657600"/>
            <a:ext cx="6766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Explorou as 9 tabelas do projeto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114800"/>
            <a:ext cx="6766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Entendeu como SQL vira Python (@dataclass)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4572000"/>
            <a:ext cx="6766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Rodou o sistema CRUD de moradores!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aula:  </a:t>
            </a:r>
            <a:pPr algn="l" indent="0" marL="0">
              <a:buNone/>
            </a:pPr>
            <a:r>
              <a:rPr lang="en-US" sz="13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Expandir o CRUD para visitantes e veículos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0" y="6035040"/>
            <a:ext cx="12161520" cy="822960"/>
          </a:xfrm>
          <a:prstGeom prst="rect">
            <a:avLst/>
          </a:prstGeom>
          <a:solidFill>
            <a:srgbClr val="38B2AC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0350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Ademilson, seus dados agora têm estrutura, segurança e um modelo profissional!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2026-04-09T22:47:19Z</dcterms:created>
  <dcterms:modified xsi:type="dcterms:W3CDTF">2026-04-09T22:47:19Z</dcterms:modified>
</cp:coreProperties>
</file>