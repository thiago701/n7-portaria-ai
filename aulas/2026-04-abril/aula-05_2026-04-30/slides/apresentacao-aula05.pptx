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11643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74320" y="2011680"/>
            <a:ext cx="1164305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Gráfica: Dando Rosto ao Nosso Sistema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4320" y="530352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n7-portaria-ai | 30/04/2026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3840480"/>
            <a:ext cx="914400" cy="365760"/>
          </a:xfrm>
          <a:prstGeom prst="rect">
            <a:avLst/>
          </a:prstGeom>
          <a:solidFill>
            <a:srgbClr val="2B6CB0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45775" y="3840480"/>
            <a:ext cx="1371600" cy="365760"/>
          </a:xfrm>
          <a:prstGeom prst="rect">
            <a:avLst/>
          </a:prstGeom>
          <a:solidFill>
            <a:srgbClr val="38B2AC"/>
          </a:solidFill>
          <a:ln w="25400">
            <a:solidFill>
              <a:srgbClr val="1A365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da Jornada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731520"/>
          </a:xfrm>
          <a:prstGeom prst="rect">
            <a:avLst/>
          </a:prstGeom>
          <a:solidFill>
            <a:srgbClr val="2B6CB0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Python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1371600"/>
            <a:ext cx="1463040" cy="731520"/>
          </a:xfrm>
          <a:prstGeom prst="rect">
            <a:avLst/>
          </a:prstGeom>
          <a:solidFill>
            <a:srgbClr val="2B6CB0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SQL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1371600"/>
            <a:ext cx="1463040" cy="731520"/>
          </a:xfrm>
          <a:prstGeom prst="rect">
            <a:avLst/>
          </a:prstGeom>
          <a:solidFill>
            <a:srgbClr val="2B6CB0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CRUD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371600"/>
            <a:ext cx="1463040" cy="731520"/>
          </a:xfrm>
          <a:prstGeom prst="rect">
            <a:avLst/>
          </a:prstGeom>
          <a:solidFill>
            <a:srgbClr val="2B6CB0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0" y="1371600"/>
            <a:ext cx="1463040" cy="731520"/>
          </a:xfrm>
          <a:prstGeom prst="rect">
            <a:avLst/>
          </a:prstGeom>
          <a:solidFill>
            <a:srgbClr val="38B2AC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Interface!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03120" y="1645920"/>
            <a:ext cx="457200" cy="274320"/>
          </a:xfrm>
          <a:prstGeom prst="triangle">
            <a:avLst/>
          </a:prstGeom>
          <a:solidFill>
            <a:srgbClr val="1A365D"/>
          </a:solidFill>
          <a:ln/>
        </p:spPr>
      </p:sp>
      <p:sp>
        <p:nvSpPr>
          <p:cNvPr id="15" name="Shape 13"/>
          <p:cNvSpPr/>
          <p:nvPr/>
        </p:nvSpPr>
        <p:spPr>
          <a:xfrm>
            <a:off x="3931920" y="1645920"/>
            <a:ext cx="457200" cy="274320"/>
          </a:xfrm>
          <a:prstGeom prst="triangle">
            <a:avLst/>
          </a:prstGeom>
          <a:solidFill>
            <a:srgbClr val="1A365D"/>
          </a:solidFill>
          <a:ln/>
        </p:spPr>
      </p:sp>
      <p:sp>
        <p:nvSpPr>
          <p:cNvPr id="16" name="Shape 14"/>
          <p:cNvSpPr/>
          <p:nvPr/>
        </p:nvSpPr>
        <p:spPr>
          <a:xfrm>
            <a:off x="5760720" y="1645920"/>
            <a:ext cx="457200" cy="274320"/>
          </a:xfrm>
          <a:prstGeom prst="triangle">
            <a:avLst/>
          </a:prstGeom>
          <a:solidFill>
            <a:srgbClr val="1A365D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0" y="1645920"/>
            <a:ext cx="457200" cy="274320"/>
          </a:xfrm>
          <a:prstGeom prst="triangle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743200"/>
            <a:ext cx="11643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Nossa jornada de 5 semanas de aprendizado construindo um programa COMPLETO!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4320" y="347472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Começamos com os fundamentos de Python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" y="393192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Aprendemos a armazenar dados com SQL e SQLite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" y="438912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Dominamos CRUD (Create, Read, Update, Delete)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Criamos uma API RESTful para interagir com o banco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" y="530352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Agora: A Interface Gráfica — O "Rosto" do Sistema!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185855" y="5486400"/>
            <a:ext cx="731520" cy="1097280"/>
          </a:xfrm>
          <a:prstGeom prst="rect">
            <a:avLst/>
          </a:prstGeom>
          <a:solidFill>
            <a:srgbClr val="38B2AC"/>
          </a:solidFill>
          <a:ln w="25400">
            <a:solidFill>
              <a:srgbClr val="1A365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GUI?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= Graphical User Interface (Interface Gráfica de Usuário)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11643055" cy="2103120"/>
          </a:xfrm>
          <a:prstGeom prst="rect">
            <a:avLst/>
          </a:prstGeom>
          <a:solidFill>
            <a:srgbClr val="EDF2F7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Analogia: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55472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agora nosso sistema era uma LOJA SEM VITRINE — tudo funcionava "nos bastidores"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33008" y="2331720"/>
            <a:ext cx="54100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 adicionamos a VITRINE — uma interface bonita e intuitiva para o usuário interagir!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20624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Desktop (GUI com CustomTkinter) — Programa instalado no computador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66344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(HTML/CSS/JavaScript) — Acessa via navegador (veremos depois)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512064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Ambos fazem a mesma coisa: conectam usuário aos dados!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5760720"/>
            <a:ext cx="1097280" cy="914400"/>
          </a:xfrm>
          <a:prstGeom prst="rect">
            <a:avLst/>
          </a:prstGeom>
          <a:solidFill>
            <a:srgbClr val="38B2AC"/>
          </a:solidFill>
          <a:ln w="25400">
            <a:solidFill>
              <a:srgbClr val="1A365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CustomTkinter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biblioteca Python MODERNA para criar interfaces gráficas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5730088" cy="2560320"/>
          </a:xfrm>
          <a:prstGeom prst="rect">
            <a:avLst/>
          </a:prstGeom>
          <a:solidFill>
            <a:srgbClr val="FFF5F5"/>
          </a:solidFill>
          <a:ln w="25400">
            <a:solidFill>
              <a:srgbClr val="C530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536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 Padrão 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536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Aparência antiga (anos 1990)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536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Difícil de personalizar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536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Pouco intuitivo para usuários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7288" y="1828800"/>
            <a:ext cx="5730088" cy="2560320"/>
          </a:xfrm>
          <a:prstGeom prst="rect">
            <a:avLst/>
          </a:prstGeom>
          <a:solidFill>
            <a:srgbClr val="F0FFF4"/>
          </a:solidFill>
          <a:ln w="25400">
            <a:solidFill>
              <a:srgbClr val="2286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0168" y="1920240"/>
            <a:ext cx="536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8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CustomTkinter 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70168" y="2377440"/>
            <a:ext cx="536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Aparência moderna e limpa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70168" y="2743200"/>
            <a:ext cx="536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Fácil de personalizar cores e estilos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70168" y="3108960"/>
            <a:ext cx="5364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Profissional e intuitivo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Import: from customtkinter import *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521208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Compatível com Windows, Mac e Linux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002975" y="5669280"/>
            <a:ext cx="914400" cy="1005840"/>
          </a:xfrm>
          <a:prstGeom prst="rect">
            <a:avLst/>
          </a:prstGeom>
          <a:solidFill>
            <a:srgbClr val="38B2AC"/>
          </a:solidFill>
          <a:ln w="25400">
            <a:solidFill>
              <a:srgbClr val="1A365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Widgets — Os Tijolos da Interface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11643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Widget é um elemento visual (botão, caixa de texto, label, etc.)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1828800" cy="548640"/>
          </a:xfrm>
          <a:prstGeom prst="rect">
            <a:avLst/>
          </a:prstGeom>
          <a:solidFill>
            <a:srgbClr val="2B6CB0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CTkLabel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Texto/Rótulo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828800"/>
            <a:ext cx="1828800" cy="548640"/>
          </a:xfrm>
          <a:prstGeom prst="rect">
            <a:avLst/>
          </a:prstGeom>
          <a:solidFill>
            <a:srgbClr val="38B2AC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CTkEntry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Entrada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1828800" cy="548640"/>
          </a:xfrm>
          <a:prstGeom prst="rect">
            <a:avLst/>
          </a:prstGeom>
          <a:solidFill>
            <a:srgbClr val="2B6CB0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CTkButton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1828800" cy="548640"/>
          </a:xfrm>
          <a:prstGeom prst="rect">
            <a:avLst/>
          </a:prstGeom>
          <a:solidFill>
            <a:srgbClr val="38B2AC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CTkFrame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Contêiner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0" y="1828800"/>
            <a:ext cx="1828800" cy="548640"/>
          </a:xfrm>
          <a:prstGeom prst="rect">
            <a:avLst/>
          </a:prstGeom>
          <a:solidFill>
            <a:srgbClr val="2B6CB0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CTkScrollableFrame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2468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Rolável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320040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CTkLabel: Exibir texto, títulos, mensagens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365760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CTkEntry: Caixa para usuário digitar dados (nome, email, etc)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411480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CTkButton: Botão para executar ações (salvar, deletar, buscar)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457200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CTkFrame: Agrupa outros widgets (containers/painéis)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502920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CTkScrollableFrame: Lista que permite rolagem (para muitos itens)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548640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Cada widget pode ter cores, fontes, tamanhos customizados!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Anatomia da Nossa Tela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1643055" cy="5486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88720"/>
            <a:ext cx="11643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DE VISITANTES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5730088" cy="3474720"/>
          </a:xfrm>
          <a:prstGeom prst="rect">
            <a:avLst/>
          </a:prstGeom>
          <a:solidFill>
            <a:srgbClr val="EDF2F7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11680"/>
            <a:ext cx="554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(Esquerda)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CTkLabel: "Nome"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CTkEntry: [Caixa de texto]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CTkLabel: "Empresa"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CTkEntry: [Caixa de texto]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7288" y="1920240"/>
            <a:ext cx="5730088" cy="3474720"/>
          </a:xfrm>
          <a:prstGeom prst="rect">
            <a:avLst/>
          </a:prstGeom>
          <a:solidFill>
            <a:srgbClr val="EBF8FF"/>
          </a:solidFill>
          <a:ln w="25400">
            <a:solidFill>
              <a:srgbClr val="38B2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8728" y="2011680"/>
            <a:ext cx="554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(Direita)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78728" y="242316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CTkScrollableFrame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78728" y="274320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visitantes cadastrados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78728" y="301752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linha com botões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78728" y="3291840"/>
            <a:ext cx="5364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 / Deletar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5577840"/>
            <a:ext cx="1097280" cy="457200"/>
          </a:xfrm>
          <a:prstGeom prst="rect">
            <a:avLst/>
          </a:prstGeom>
          <a:solidFill>
            <a:srgbClr val="2B6CB0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5577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554480" y="5577840"/>
            <a:ext cx="1097280" cy="457200"/>
          </a:xfrm>
          <a:prstGeom prst="rect">
            <a:avLst/>
          </a:prstGeom>
          <a:solidFill>
            <a:srgbClr val="38B2AC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5577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34640" y="5577840"/>
            <a:ext cx="1097280" cy="457200"/>
          </a:xfrm>
          <a:prstGeom prst="rect">
            <a:avLst/>
          </a:prstGeom>
          <a:solidFill>
            <a:srgbClr val="E53E3E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55778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5669280"/>
            <a:ext cx="7071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os elementos se comunicam!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— Quando o Botão é Clicado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11643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Evento é uma ação que dispara uma função em 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828800" cy="731520"/>
          </a:xfrm>
          <a:prstGeom prst="rect">
            <a:avLst/>
          </a:prstGeom>
          <a:solidFill>
            <a:srgbClr val="2B6CB0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 clica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botão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920240"/>
            <a:ext cx="1828800" cy="731520"/>
          </a:xfrm>
          <a:prstGeom prst="rect">
            <a:avLst/>
          </a:prstGeom>
          <a:solidFill>
            <a:srgbClr val="38B2AC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920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"click"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920240"/>
            <a:ext cx="1828800" cy="731520"/>
          </a:xfrm>
          <a:prstGeom prst="rect">
            <a:avLst/>
          </a:prstGeom>
          <a:solidFill>
            <a:srgbClr val="2B6CB0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920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executa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função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1920240"/>
            <a:ext cx="1828800" cy="731520"/>
          </a:xfrm>
          <a:prstGeom prst="rect">
            <a:avLst/>
          </a:prstGeom>
          <a:solidFill>
            <a:srgbClr val="38B2AC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920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0" y="1920240"/>
            <a:ext cx="1828800" cy="731520"/>
          </a:xfrm>
          <a:prstGeom prst="rect">
            <a:avLst/>
          </a:prstGeom>
          <a:solidFill>
            <a:srgbClr val="2B6CB0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920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 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2240280"/>
            <a:ext cx="457200" cy="274320"/>
          </a:xfrm>
          <a:prstGeom prst="triangle">
            <a:avLst/>
          </a:prstGeom>
          <a:solidFill>
            <a:srgbClr val="1A365D"/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2240280"/>
            <a:ext cx="457200" cy="274320"/>
          </a:xfrm>
          <a:prstGeom prst="triangle">
            <a:avLst/>
          </a:prstGeom>
          <a:solidFill>
            <a:srgbClr val="1A365D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2240280"/>
            <a:ext cx="457200" cy="274320"/>
          </a:xfrm>
          <a:prstGeom prst="triangle">
            <a:avLst/>
          </a:prstGeom>
          <a:solidFill>
            <a:srgbClr val="1A365D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0" y="2240280"/>
            <a:ext cx="457200" cy="274320"/>
          </a:xfrm>
          <a:prstGeom prst="triangle">
            <a:avLst/>
          </a:prstGeom>
          <a:solidFill>
            <a:srgbClr val="1A365D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" y="2926080"/>
            <a:ext cx="11643055" cy="2286000"/>
          </a:xfrm>
          <a:prstGeom prst="rect">
            <a:avLst/>
          </a:prstGeom>
          <a:solidFill>
            <a:srgbClr val="1A202C"/>
          </a:solidFill>
          <a:ln w="25400">
            <a:solidFill>
              <a:srgbClr val="38B2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63240"/>
            <a:ext cx="1127729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= CTkButton(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master=frame,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text="Salvar Visitante",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command=salvar_visitante  # Função chamada ao clicar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salvar_visitante():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 = entry_nome.get()  # Pega valor do Entry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Salva no banco de dados...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atualizar_lista()  # Atualiza a tela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Conectando com o Banco de Dados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11643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GUI usa o mesmo código SQLite da Aula 03!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5730088" cy="3840480"/>
          </a:xfrm>
          <a:prstGeom prst="rect">
            <a:avLst/>
          </a:prstGeom>
          <a:solidFill>
            <a:srgbClr val="EDF2F7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920240"/>
            <a:ext cx="554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03: CLI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5364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portaria.py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Digite nome: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536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 interage digitando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536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salvos 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sqlite3.execute()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7288" y="1828800"/>
            <a:ext cx="5730088" cy="3840480"/>
          </a:xfrm>
          <a:prstGeom prst="rect">
            <a:avLst/>
          </a:prstGeom>
          <a:solidFill>
            <a:srgbClr val="F0FFF4"/>
          </a:solidFill>
          <a:ln w="25400">
            <a:solidFill>
              <a:srgbClr val="38B2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8728" y="1920240"/>
            <a:ext cx="5547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05: GUI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78728" y="2331720"/>
            <a:ext cx="5364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[Interface Gráfica]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Clica botão → salva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78728" y="3383280"/>
            <a:ext cx="5364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 interage com botões e campos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78728" y="3749040"/>
            <a:ext cx="5364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código SQLite,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disparado por clicks!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585216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Connection = sqlite3.connect("portaria.db")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26364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cursor.execute() para INSERT, UPDATE, DELETE, SELECT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 da Prática!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1188720"/>
            <a:ext cx="11643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Arquivo: portaria_gui.py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0"/>
            <a:ext cx="3200400" cy="1828800"/>
          </a:xfrm>
          <a:prstGeom prst="rect">
            <a:avLst/>
          </a:prstGeom>
          <a:solidFill>
            <a:srgbClr val="FED7D7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1: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janela principal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CustomTkinter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828800"/>
            <a:ext cx="3200400" cy="1828800"/>
          </a:xfrm>
          <a:prstGeom prst="rect">
            <a:avLst/>
          </a:prstGeom>
          <a:solidFill>
            <a:srgbClr val="FEEBC8"/>
          </a:solidFill>
          <a:ln w="25400">
            <a:solidFill>
              <a:srgbClr val="D69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2: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2377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campos de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(nome, empresa)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1828800"/>
            <a:ext cx="3200400" cy="1828800"/>
          </a:xfrm>
          <a:prstGeom prst="rect">
            <a:avLst/>
          </a:prstGeom>
          <a:solidFill>
            <a:srgbClr val="F0FFF4"/>
          </a:solidFill>
          <a:ln w="25400">
            <a:solidFill>
              <a:srgbClr val="2286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86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3: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23774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botão ao banco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atualizar lista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393192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final: Um programa PROFISSIONAL pronto para usar!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4572000"/>
            <a:ext cx="11643055" cy="1828800"/>
          </a:xfrm>
          <a:prstGeom prst="rect">
            <a:avLst/>
          </a:prstGeom>
          <a:solidFill>
            <a:srgbClr val="1A202C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66344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DO RESULTADO FINAL: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5029200"/>
            <a:ext cx="112772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CADASTRO DE VISITANTES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Nome:     [                   ]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Empresa:  [                   ]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[Salvar]  [Limpar]  [Deletar]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• João Silva - Acme Corp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• Maria Santos - TechCorp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• Pedro Oliveira - StartupXYZ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2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└─────────────────────────────────┘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0"/>
            <a:ext cx="11643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FASE 1 COMPLETA! 🎉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2011680" cy="548640"/>
          </a:xfrm>
          <a:prstGeom prst="rect">
            <a:avLst/>
          </a:prstGeom>
          <a:solidFill>
            <a:srgbClr val="2B6CB0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34640" y="2057400"/>
            <a:ext cx="365760" cy="182880"/>
          </a:xfrm>
          <a:prstGeom prst="triangle">
            <a:avLst/>
          </a:prstGeom>
          <a:solidFill>
            <a:srgbClr val="EDF2F7"/>
          </a:solidFill>
          <a:ln/>
        </p:spPr>
      </p:sp>
      <p:sp>
        <p:nvSpPr>
          <p:cNvPr id="6" name="Shape 4"/>
          <p:cNvSpPr/>
          <p:nvPr/>
        </p:nvSpPr>
        <p:spPr>
          <a:xfrm>
            <a:off x="3108960" y="1828800"/>
            <a:ext cx="2011680" cy="548640"/>
          </a:xfrm>
          <a:prstGeom prst="rect">
            <a:avLst/>
          </a:prstGeom>
          <a:solidFill>
            <a:srgbClr val="2B6CB0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0" y="2057400"/>
            <a:ext cx="365760" cy="182880"/>
          </a:xfrm>
          <a:prstGeom prst="triangle">
            <a:avLst/>
          </a:prstGeom>
          <a:solidFill>
            <a:srgbClr val="EDF2F7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0" y="1828800"/>
            <a:ext cx="2011680" cy="548640"/>
          </a:xfrm>
          <a:prstGeom prst="rect">
            <a:avLst/>
          </a:prstGeom>
          <a:solidFill>
            <a:srgbClr val="2B6CB0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2057400"/>
            <a:ext cx="365760" cy="182880"/>
          </a:xfrm>
          <a:prstGeom prst="triangle">
            <a:avLst/>
          </a:prstGeom>
          <a:solidFill>
            <a:srgbClr val="ED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0" y="1828800"/>
            <a:ext cx="2011680" cy="548640"/>
          </a:xfrm>
          <a:prstGeom prst="rect">
            <a:avLst/>
          </a:prstGeom>
          <a:solidFill>
            <a:srgbClr val="2B6CB0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966960" y="2057400"/>
            <a:ext cx="365760" cy="182880"/>
          </a:xfrm>
          <a:prstGeom prst="triangle">
            <a:avLst/>
          </a:prstGeom>
          <a:solidFill>
            <a:srgbClr val="ED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41280" y="1828800"/>
            <a:ext cx="2011680" cy="548640"/>
          </a:xfrm>
          <a:prstGeom prst="rect">
            <a:avLst/>
          </a:prstGeom>
          <a:solidFill>
            <a:srgbClr val="38B2AC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0" y="1828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265176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D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Semanas de Aprendizado Intenso!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4320" y="3474720"/>
            <a:ext cx="116430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construiu um programa de computador completo em 5 semanas!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74320" y="4572000"/>
            <a:ext cx="116430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Parabéns, Ademilson! Você é um programador! 👨‍💻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74320" y="5486400"/>
            <a:ext cx="914400" cy="1188720"/>
          </a:xfrm>
          <a:prstGeom prst="rect">
            <a:avLst/>
          </a:prstGeom>
          <a:solidFill>
            <a:srgbClr val="2B6CB0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45775" y="5486400"/>
            <a:ext cx="1371600" cy="1188720"/>
          </a:xfrm>
          <a:prstGeom prst="rect">
            <a:avLst/>
          </a:prstGeom>
          <a:solidFill>
            <a:srgbClr val="38B2AC"/>
          </a:solidFill>
          <a:ln w="25400">
            <a:solidFill>
              <a:srgbClr val="1A365D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1643055" cy="2286000"/>
          </a:xfrm>
          <a:prstGeom prst="rect">
            <a:avLst/>
          </a:prstGeom>
          <a:solidFill>
            <a:srgbClr val="EDF2F7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2: Ampliando Nosso Sistema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Tabela de Visitantes — Registrar entrada/saída com data/hora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SQL JOINs — Conectar múltiplas tabelas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Sistema de Login — Autenticar usuários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384048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Depois: HTML/CSS/JavaScript — Transformar GUI em plataforma WEB!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4389120"/>
            <a:ext cx="11643055" cy="1280160"/>
          </a:xfrm>
          <a:prstGeom prst="rect">
            <a:avLst/>
          </a:prstGeom>
          <a:solidFill>
            <a:srgbClr val="FEF5E7"/>
          </a:solidFill>
          <a:ln w="25400">
            <a:solidFill>
              <a:srgbClr val="D689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59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programa poderá ser acessado de qualquer navegador! 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computador, tablet, celular — sempre sincronizado com o banco de dados!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5852160"/>
            <a:ext cx="11643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Continue praticando! A programação é como um instrumento musical 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2026-04-03T17:50:31Z</dcterms:created>
  <dcterms:modified xsi:type="dcterms:W3CDTF">2026-04-03T17:50:31Z</dcterms:modified>
</cp:coreProperties>
</file>