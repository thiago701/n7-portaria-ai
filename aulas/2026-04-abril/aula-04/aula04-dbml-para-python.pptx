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B8817B-88D4-4F37-A86C-AA2DEB33FB96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16BCC7-F5E4-462F-B32E-84EB5A7273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51F14D-A95A-4976-BDEC-57F7334113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00356F-4761-41C1-A768-AC762119FF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C13740-512C-409D-A6E0-36CEEB126A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674DE7-726E-4EBA-BC98-319D057AE5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001201-C46F-4427-B4D8-7D3660ABD0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D78A30-A03F-4A2E-B479-4A4A95896B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1AB58C-2C7D-44CF-AECF-30BF21C2A7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ADEB66-30CB-40F2-ADC8-93DEE0AF60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3710AC-04C0-4D4D-9D37-CB95B8D0C9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AA8D31-2F51-4AD3-9095-7A5B815370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FBADD9-8AE5-4D9F-8044-AB5B49DE57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457200" y="457200"/>
            <a:ext cx="2011320" cy="365400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4572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AULA 04  |  FASE 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280160"/>
            <a:ext cx="112467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 DBML ao Python:</a:t>
            </a:r>
            <a:endParaRPr lang="pt-BR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Mapeando o Domínio (Aula 04)</a:t>
            </a:r>
            <a:endParaRPr lang="pt-BR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3657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Ler um diagrama de banco de dados e escrever as classes Python equivalentes.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457200" y="4572000"/>
            <a:ext cx="3657240" cy="1188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461772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5257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tabelas mapeadas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4389120" y="4572000"/>
            <a:ext cx="3657240" cy="1188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389120" y="461772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1:1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389120" y="5257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correspondência coluna → atributo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8321040" y="4572000"/>
            <a:ext cx="3657240" cy="1188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8321040" y="461772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@dataclass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8321040" y="5257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padrão Python nativo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457200" y="6400800"/>
            <a:ext cx="11246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Thiago &amp; Ademílson  ·  n7-portaria-ai  ·  2026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32004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Como ler cada slide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105156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Uma receita única que vale para as 9 tabelas.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57200" y="17373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1. Diagrama DBML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2240280"/>
            <a:ext cx="5028840" cy="1828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640080" y="2331720"/>
            <a:ext cx="4663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exemplo </a:t>
            </a:r>
            <a:r>
              <a:rPr lang="en-US" sz="18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</a:t>
            </a:r>
            <a:r>
              <a:rPr lang="en-US" sz="18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nome  </a:t>
            </a:r>
            <a:r>
              <a:rPr lang="en-US" sz="18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ativo </a:t>
            </a:r>
            <a:r>
              <a:rPr lang="en-US" sz="18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true]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5577840" y="2743200"/>
            <a:ext cx="1005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6675120" y="17373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2. Classe Python (@dataclass)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6675120" y="2240280"/>
            <a:ext cx="5028840" cy="1828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6858000" y="2331720"/>
            <a:ext cx="4663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Exemplo: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nome: 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ativo: 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True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457200" y="42976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Legenda das cores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457200" y="4873680"/>
            <a:ext cx="228240" cy="228240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822960" y="48006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palavras-chave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3383280" y="4800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Table, class, @dataclass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457200" y="5257800"/>
            <a:ext cx="228240" cy="228240"/>
          </a:xfrm>
          <a:prstGeom prst="rect">
            <a:avLst/>
          </a:prstGeom>
          <a:solidFill>
            <a:srgbClr val="E8734A"/>
          </a:solidFill>
          <a:ln w="12700">
            <a:solidFill>
              <a:srgbClr val="E87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822960" y="51847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tipos de dados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3383280" y="51847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int, str, bool, date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457200" y="5641920"/>
            <a:ext cx="228240" cy="228240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822960" y="55688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valores e modificadores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3383280" y="55688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'apartamento', [pk], True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457200" y="6026040"/>
            <a:ext cx="228240" cy="228240"/>
          </a:xfrm>
          <a:prstGeom prst="rect">
            <a:avLst/>
          </a:prstGeom>
          <a:solidFill>
            <a:srgbClr val="8BA3C0"/>
          </a:solidFill>
          <a:ln w="12700">
            <a:solidFill>
              <a:srgbClr val="8BA3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822960" y="59526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comentários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3383280" y="5952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// ou #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6675120" y="42976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Dicionário de dados e apontamentos didáticos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6675120" y="4754880"/>
            <a:ext cx="5120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NOT NULL  →  sem '= None' no Python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PRIMARY KEY AUTO  →  Optional[int] = None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DEFAULT valor  →  atributo = valor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BOOLEAN 0/1  →  bool True/False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BLOB  →  bytes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DATE / DATETIME  →  date / datetime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Legenda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moradores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1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Pessoa que mora no condomínio. Dados cadastrais, biometria, foto e LGPD.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moradores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nome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cpf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unique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telefone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email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dt_nascimento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foto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blob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biometria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blob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dt_aceite_lgpd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datetime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ativo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true]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+ 5 campos de auditoria/validade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Morador: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 (NOT NULL)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nome: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cpf: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telefone: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email: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dt_nascimento: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foto: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bytes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biometria: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bytes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ativo: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True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+ campos de validade e auditoria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nome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nome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(obrigatório)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cpf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cpf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(11 dígitos, único)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telefone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telefone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Optional[str]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email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email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Optional[str]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foto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foto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Optional[bytes]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6"/>
          <p:cNvSpPr/>
          <p:nvPr/>
        </p:nvSpPr>
        <p:spPr>
          <a:xfrm>
            <a:off x="457200" y="614484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+ 3 colunas (ver classe completa)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7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8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9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0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PRIMARY KEY AUTOINCREMENT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1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 vira Optional[int] = None — o banco gera o número no INSERT.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2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3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4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NOT NULL no SQL = sem '= None' no Python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5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nome e cpf ficam sem valor padrão: são obrigatórios no __init__.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6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7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8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BLOB vira bytes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9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foto e biometria guardam bytes. Ler com open('foto.jpg','rb').read().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0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1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moradores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residencias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2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Unidade habitacional (apartamento, casa, comercial). Um morador pode ter várias.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residencias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codigo_condominio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numero_residencia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bloco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quadra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andar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tipo_moradia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'apartamento'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interfone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observacao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ativo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true]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+ 3 campos de auditoria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Residencia: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numero_residencia: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bloco: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quadra: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andar: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tipo_moradia: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'apartamento'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interfone: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observacao: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ativo: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True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codigo_condominio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codigo_condominio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(obrigatório)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numero_residencia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numero_residencia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(ex: '101', '08')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bloco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bloco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Optional[str] — prédios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quadra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quadra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Optional[str] — casas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andar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andar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6"/>
          <p:cNvSpPr/>
          <p:nvPr/>
        </p:nvSpPr>
        <p:spPr>
          <a:xfrm>
            <a:off x="457200" y="614484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+ 2 colunas (ver classe completa)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7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8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9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0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numero_residencia é TEXT, não INTEGER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1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Permite '101-A', 'Cobertura', 'Lote 08'. No Python vira str.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2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3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4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DEFAULT vira valor padrão no Python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5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TEXT DEFAULT 'apartamento' → tipo_moradia: str = 'apartamento'.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6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7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8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bloco E quadra são mutuamente exclusivos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9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Prédio: bloco preenchido, quadra=None. Casa: inverso. Regra no app.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0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1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residencias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morador_residencia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3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Ponte N:N entre moradores e residências. 'Quem mora onde e desde quando'.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morador_residencia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morador_id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residencia_id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tipo_morador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'proprietario'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dt_inicio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dt_fim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ativo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true]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+ 2 campos de auditoria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FKs: morador_id → moradores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     residencia_id → residencias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unique(morador_id, residencia_id, dt_inicio)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MoradorResidencia: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morador_id: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residencia_id: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tipo_morador: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'proprietario'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dt_inicio: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dt_fim: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ativo: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True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morador_id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morador_id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int → FK moradores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residencia_id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residencia_id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int → FK residencias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tipo_morador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tipo_morador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= 'proprietario'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dt_inicio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dt_inicio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date (obrigatório)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dt_fim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dt_fim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Optional[date] — None=ativo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6"/>
          <p:cNvSpPr/>
          <p:nvPr/>
        </p:nvSpPr>
        <p:spPr>
          <a:xfrm>
            <a:off x="457200" y="614484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+ 1 colunas (ver classe completa)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7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8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9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0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FOREIGN KEY vira int no Python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1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banco é ligação; no Python é int. O 'pulo' até moradores é feito via SELECT.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2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3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4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dt_fim = None significa vínculo vigente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5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Quando sai, preenchemos dt_fim. Não apagamos — mantemos o histórico.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6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7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8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Tabela de junção resolve N:N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9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Sem ela, 1 morador só teria 1 residência. Padrão clássico de modelagem.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0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1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morador_residencia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visitantes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4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Quem não é morador mas quer entrar. Pode ser bloqueado e ter janela de validade.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visitantes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nome  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documento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tipo_documento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'RG'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telefone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foto  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blob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bloqueado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false]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motivo_bloqueio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dt_validade_inicio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dt_validade_fim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+ 2 campos de auditoria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Visitante: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nome: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documento: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tipo_documento: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'RG'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telefone: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foto: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bytes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bloqueado: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False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motivo_bloqueio: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dt_validade_inicio: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dt_validade_fim: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nome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nome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(obrigatório)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documento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documento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(RG, CNH, etc)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tipo_documento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tipo_documento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= 'RG'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foto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foto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Optional[bytes]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bloqueado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bloqueado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bool = False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6"/>
          <p:cNvSpPr/>
          <p:nvPr/>
        </p:nvSpPr>
        <p:spPr>
          <a:xfrm>
            <a:off x="457200" y="614484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+ 2 colunas (ver classe completa)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7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8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9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0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BOOLEAN DEFAULT 0 vira bool = False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1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bloqueado começa False. Porteiro marca True quando necessário, com motivo.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2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3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4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Regra: bloqueado=True exige motivo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5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Não está no SQL — fica em __post_init__. Regras de negócio ficam no app.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46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7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8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Janela de validade é opcional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9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Ambas as datas são Optional[date]. None = sem restrição. Útil para diarista.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50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1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visitantes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funcionarios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5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Quem trabalha no condomínio: porteiro, zelador, administrador. Opera o sistema.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funcionarios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nome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cpf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unique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cargo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'porteiro'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setor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login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unique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senha_hash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ativo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true]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cpf: 11 dígitos  /  senha_hash: SHA-256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+ 2 campos de auditoria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Funcionario: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nome: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cpf: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login: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senha_hash: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# SHA-256,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64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chars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cargo: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'porteiro'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setor: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ativo: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True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nome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nome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(obrigatório)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cpf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cpf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(11 dígitos, único)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cargo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cargo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= 'porteiro'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setor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setor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Optional[str]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login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login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(único, obrigatório)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6"/>
          <p:cNvSpPr/>
          <p:nvPr/>
        </p:nvSpPr>
        <p:spPr>
          <a:xfrm>
            <a:off x="457200" y="614484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+ 2 colunas (ver classe completa)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7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8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9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0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senha_hash NUNCA é senha em texto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1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hashlib.sha256('senha'.encode()).hexdigest(). Se vazar, não descobre a senha.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42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3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4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CHECK vira validação no __post_init__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45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CHECK(length(senha_hash)=64) vira _validar_senha_hash() no Python.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6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7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8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cargo é enum, guardado como 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9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SQLite não tem ENUM. CHECK restringe. CARGOS_VALIDOS no Python faz o papel.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0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1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funcionarios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veiculos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6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Carro ou moto de morador, funcionário ou visitante. Apenas UM dono por veículo.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veiculos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placa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unique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modelo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cor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morador_id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funcionario_id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visitante_id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ativo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true]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+ 2 campos de auditoria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Exatamente 1 dos 3 FKs preenchido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→ moradores, funcionarios ou visitantes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Veiculo: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placa: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modelo: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cor: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FKs mutuamente exclusivas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morador_id: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funcionario_id: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visitante_id: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ativo: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True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placa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placa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(≥7 chars, único)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modelo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modelo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Optional[str]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cor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Optional[str]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morador_id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morador_id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— FK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funcionario_id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funcionario_id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— FK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6"/>
          <p:cNvSpPr/>
          <p:nvPr/>
        </p:nvSpPr>
        <p:spPr>
          <a:xfrm>
            <a:off x="457200" y="614484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+ 2 colunas (ver classe completa)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7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8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9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40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3 FKs, apenas 1 preenchida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41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morador_id OU funcionario_id OU visitante_id. As outras ficam None. Validado em _validar_proprietario().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2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43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4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UNIQUE placa vira validação runtime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5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garante no INSERT. Python normaliza (strip, upper) antes de enviar.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6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7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48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Poderia ser herança no Python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49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 classe + 3 FKs mantém o 1:1 com a tabela. Mais simples que 3 classes filhas.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50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51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veiculos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acessos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7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LOG de cada entrada/saída. Trilha de auditoria — NUNCA deletar registros.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acessos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visitante_id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morador_id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funcionario_id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veiculo_id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tipo_acesso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'pedestre'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auth_senha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false]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auth_digital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false]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auth_facial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false]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motivo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dt_entrada_em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datetime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dt_saida_em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datetime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FKs: visitante/morador/funcionario/veiculo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Acesso: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visitante_id: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motivo: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morador_id: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funcionario_id: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veiculo_id: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tipo_acesso: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'pedestre'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auth_senha: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False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auth_digital: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False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auth_facial: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False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visitante_id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visitante_id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int (obrigatório) → FK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morador_id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morador_id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— FK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funcionario_id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funcionario_id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— FK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veiculo_id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veiculo_id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— FK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tipo_acesso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tipo_acesso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= 'pedestre'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auth_senha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auth_senha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bool = False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6"/>
          <p:cNvSpPr/>
          <p:nvPr/>
        </p:nvSpPr>
        <p:spPr>
          <a:xfrm>
            <a:off x="457200" y="614484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+ 4 colunas (ver classe completa)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7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8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9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40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2FA em 3 bools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41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CHECK(auth_senha + auth_digital + auth_facial &gt;= 1) exige ≥1 fator. Sem auth, não registra.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2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3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44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dt_saida_em = None significa DENTRO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5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Pessoa entrou, ainda não saiu. A property esta_dentro expõe isso no Python.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6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7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8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Histórico imutável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9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Só INSERT. Nunca UPDATE/DELETE em registros antigos. Pilar da auditoria.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50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1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acessos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config_acesso_morador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8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Política de autenticação individual. Cada morador escolhe quantos fatores exigir.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config_acesso_morador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morador_id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unique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fatores_requeridos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1]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permite_senha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true]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permite_digital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true]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permite_facial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false]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morador_id UNIQUE → relação 1:1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fatores_requeridos: 1 ou 2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+ 3 campos de auditoria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ConfigAcessoMorador: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morador_id: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fatores_requeridos: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permite_senha: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True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permite_digital: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True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permite_facial: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bool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False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morador_id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morador_id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int → FK moradores (UNIQUE)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fatores_requeridos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fatores_requeridos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int = 1 (1 ou 2)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permite_senha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permite_senha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bool = True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permite_digital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permite_digital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bool = True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permite_facial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permite_facial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bool = False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6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37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38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39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UNIQUE em FK cria relação 1:1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40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morador_id UNIQUE: cada morador tem no máximo 1 config. Padrão para 'preferências'.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41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42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43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Regra cruzada no Python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44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 fatores_requeridos=2, ≥2 permite_* devem ser True. Fica em _validar_fatores_vs_tipos().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45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46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47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DEFAULT false para câmera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48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permite_facial False por padrão: reconhecimento facial exige hardware específico.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9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0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config_acesso_morador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 0"/>
          <p:cNvSpPr/>
          <p:nvPr/>
        </p:nvSpPr>
        <p:spPr>
          <a:xfrm>
            <a:off x="365760" y="2286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assinatura_condominio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"/>
          <p:cNvSpPr/>
          <p:nvPr/>
        </p:nvSpPr>
        <p:spPr>
          <a:xfrm>
            <a:off x="8988480" y="320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Tabela 9 de 9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"/>
          <p:cNvSpPr/>
          <p:nvPr/>
        </p:nvSpPr>
        <p:spPr>
          <a:xfrm>
            <a:off x="365760" y="868680"/>
            <a:ext cx="11429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Contrato do condomínio com o sistema n7-portaria-ai. Vigência, status, PDF do contrato.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3"/>
          <p:cNvSpPr/>
          <p:nvPr/>
        </p:nvSpPr>
        <p:spPr>
          <a:xfrm>
            <a:off x="36576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Diagrama DBML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"/>
          <p:cNvSpPr/>
          <p:nvPr/>
        </p:nvSpPr>
        <p:spPr>
          <a:xfrm>
            <a:off x="6400800" y="1124640"/>
            <a:ext cx="534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Classe Python (@dataclass)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5"/>
          <p:cNvSpPr/>
          <p:nvPr/>
        </p:nvSpPr>
        <p:spPr>
          <a:xfrm>
            <a:off x="36576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6"/>
          <p:cNvSpPr/>
          <p:nvPr/>
        </p:nvSpPr>
        <p:spPr>
          <a:xfrm>
            <a:off x="50292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Table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assinatura_condominio </a:t>
            </a: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id    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pk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increment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codigo_condominio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unique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nome_condominio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endereco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responsavel_id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numero_contrato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unique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, 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contrato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blob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dt_ativacao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dt_vigencia_inicio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[not null]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dt_vigencia_fim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date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status              </a:t>
            </a:r>
            <a:r>
              <a:rPr lang="en-US" sz="12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text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default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'ativo'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responsavel_id → moradores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// + 4 campos de auditoria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7"/>
          <p:cNvSpPr/>
          <p:nvPr/>
        </p:nvSpPr>
        <p:spPr>
          <a:xfrm>
            <a:off x="5760720" y="246888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8"/>
          <p:cNvSpPr/>
          <p:nvPr/>
        </p:nvSpPr>
        <p:spPr>
          <a:xfrm>
            <a:off x="6400800" y="1417320"/>
            <a:ext cx="5348880" cy="292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9"/>
          <p:cNvSpPr/>
          <p:nvPr/>
        </p:nvSpPr>
        <p:spPr>
          <a:xfrm>
            <a:off x="6537960" y="1490400"/>
            <a:ext cx="507456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@dataclass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AssinaturaCondominio: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Obrigatórios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codigo_condominio: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nome_condominio: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numero_contrato: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Opcionais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dt_vigencia_inicio: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responsavel_id: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int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contrato: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bytes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dt_vigencia_fim: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Optional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[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date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] =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None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status: </a:t>
            </a:r>
            <a:r>
              <a:rPr lang="en-US" sz="1200" b="1" u="none" strike="noStrike">
                <a:solidFill>
                  <a:srgbClr val="38B2AC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1200" b="0" u="none" strike="noStrike">
                <a:solidFill>
                  <a:srgbClr val="F5B841"/>
                </a:solidFill>
                <a:effectLst/>
                <a:uFillTx/>
                <a:latin typeface="Consolas"/>
                <a:ea typeface="Consolas"/>
              </a:rPr>
              <a:t>'ativo'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BA3C0"/>
                </a:solidFill>
                <a:effectLst/>
                <a:uFillTx/>
                <a:latin typeface="Consolas"/>
                <a:ea typeface="Consolas"/>
              </a:rPr>
              <a:t>    # + endereco, dt_ativacao, obs, audit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0"/>
          <p:cNvSpPr/>
          <p:nvPr/>
        </p:nvSpPr>
        <p:spPr>
          <a:xfrm>
            <a:off x="365760" y="448056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Dicionário de dados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1"/>
          <p:cNvSpPr/>
          <p:nvPr/>
        </p:nvSpPr>
        <p:spPr>
          <a:xfrm>
            <a:off x="365760" y="4800600"/>
            <a:ext cx="6491880" cy="2556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2"/>
          <p:cNvSpPr/>
          <p:nvPr/>
        </p:nvSpPr>
        <p:spPr>
          <a:xfrm>
            <a:off x="457200" y="4818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Coluna SQL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3"/>
          <p:cNvSpPr/>
          <p:nvPr/>
        </p:nvSpPr>
        <p:spPr>
          <a:xfrm>
            <a:off x="2788920" y="48189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Atributo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4"/>
          <p:cNvSpPr/>
          <p:nvPr/>
        </p:nvSpPr>
        <p:spPr>
          <a:xfrm>
            <a:off x="4663440" y="4818960"/>
            <a:ext cx="210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Tipo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5"/>
          <p:cNvSpPr/>
          <p:nvPr/>
        </p:nvSpPr>
        <p:spPr>
          <a:xfrm>
            <a:off x="457200" y="50749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6"/>
          <p:cNvSpPr/>
          <p:nvPr/>
        </p:nvSpPr>
        <p:spPr>
          <a:xfrm>
            <a:off x="2788920" y="5074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7"/>
          <p:cNvSpPr/>
          <p:nvPr/>
        </p:nvSpPr>
        <p:spPr>
          <a:xfrm>
            <a:off x="4663440" y="50749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= None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8"/>
          <p:cNvSpPr/>
          <p:nvPr/>
        </p:nvSpPr>
        <p:spPr>
          <a:xfrm>
            <a:off x="365760" y="52488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9"/>
          <p:cNvSpPr/>
          <p:nvPr/>
        </p:nvSpPr>
        <p:spPr>
          <a:xfrm>
            <a:off x="457200" y="52488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codigo_condominio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0"/>
          <p:cNvSpPr/>
          <p:nvPr/>
        </p:nvSpPr>
        <p:spPr>
          <a:xfrm>
            <a:off x="2788920" y="52488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codigo_condominio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1"/>
          <p:cNvSpPr/>
          <p:nvPr/>
        </p:nvSpPr>
        <p:spPr>
          <a:xfrm>
            <a:off x="4663440" y="52488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(único, obrigatório)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2"/>
          <p:cNvSpPr/>
          <p:nvPr/>
        </p:nvSpPr>
        <p:spPr>
          <a:xfrm>
            <a:off x="457200" y="54223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nome_condominio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3"/>
          <p:cNvSpPr/>
          <p:nvPr/>
        </p:nvSpPr>
        <p:spPr>
          <a:xfrm>
            <a:off x="2788920" y="5422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nome_condominio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24"/>
          <p:cNvSpPr/>
          <p:nvPr/>
        </p:nvSpPr>
        <p:spPr>
          <a:xfrm>
            <a:off x="4663440" y="54223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(obrigatório)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5"/>
          <p:cNvSpPr/>
          <p:nvPr/>
        </p:nvSpPr>
        <p:spPr>
          <a:xfrm>
            <a:off x="365760" y="55962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6"/>
          <p:cNvSpPr/>
          <p:nvPr/>
        </p:nvSpPr>
        <p:spPr>
          <a:xfrm>
            <a:off x="457200" y="55962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responsavel_id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7"/>
          <p:cNvSpPr/>
          <p:nvPr/>
        </p:nvSpPr>
        <p:spPr>
          <a:xfrm>
            <a:off x="2788920" y="5596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responsavel_id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28"/>
          <p:cNvSpPr/>
          <p:nvPr/>
        </p:nvSpPr>
        <p:spPr>
          <a:xfrm>
            <a:off x="4663440" y="55962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Optional[int] → FK morador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29"/>
          <p:cNvSpPr/>
          <p:nvPr/>
        </p:nvSpPr>
        <p:spPr>
          <a:xfrm>
            <a:off x="457200" y="576972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numero_contrato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30"/>
          <p:cNvSpPr/>
          <p:nvPr/>
        </p:nvSpPr>
        <p:spPr>
          <a:xfrm>
            <a:off x="2788920" y="57697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numero_contrato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31"/>
          <p:cNvSpPr/>
          <p:nvPr/>
        </p:nvSpPr>
        <p:spPr>
          <a:xfrm>
            <a:off x="4663440" y="576972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str (único)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32"/>
          <p:cNvSpPr/>
          <p:nvPr/>
        </p:nvSpPr>
        <p:spPr>
          <a:xfrm>
            <a:off x="365760" y="5943600"/>
            <a:ext cx="6491880" cy="173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33"/>
          <p:cNvSpPr/>
          <p:nvPr/>
        </p:nvSpPr>
        <p:spPr>
          <a:xfrm>
            <a:off x="457200" y="5943600"/>
            <a:ext cx="22856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734A"/>
                </a:solidFill>
                <a:effectLst/>
                <a:uFillTx/>
                <a:latin typeface="Consolas"/>
                <a:ea typeface="Consolas"/>
              </a:rPr>
              <a:t>contrato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34"/>
          <p:cNvSpPr/>
          <p:nvPr/>
        </p:nvSpPr>
        <p:spPr>
          <a:xfrm>
            <a:off x="2788920" y="5943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contrato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35"/>
          <p:cNvSpPr/>
          <p:nvPr/>
        </p:nvSpPr>
        <p:spPr>
          <a:xfrm>
            <a:off x="4663440" y="5943600"/>
            <a:ext cx="21027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C0"/>
                </a:solidFill>
                <a:effectLst/>
                <a:uFillTx/>
                <a:latin typeface="Calibri"/>
                <a:ea typeface="Calibri"/>
              </a:rPr>
              <a:t>Optional[bytes] — PDF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36"/>
          <p:cNvSpPr/>
          <p:nvPr/>
        </p:nvSpPr>
        <p:spPr>
          <a:xfrm>
            <a:off x="457200" y="614484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+ 3 colunas (ver classe completa)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37"/>
          <p:cNvSpPr/>
          <p:nvPr/>
        </p:nvSpPr>
        <p:spPr>
          <a:xfrm>
            <a:off x="6995160" y="44805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Apontamentos didáticos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38"/>
          <p:cNvSpPr/>
          <p:nvPr/>
        </p:nvSpPr>
        <p:spPr>
          <a:xfrm>
            <a:off x="6995160" y="482796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39"/>
          <p:cNvSpPr/>
          <p:nvPr/>
        </p:nvSpPr>
        <p:spPr>
          <a:xfrm>
            <a:off x="6995160" y="4827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40"/>
          <p:cNvSpPr/>
          <p:nvPr/>
        </p:nvSpPr>
        <p:spPr>
          <a:xfrm>
            <a:off x="7379280" y="480060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BLOB para arquivos pequenos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41"/>
          <p:cNvSpPr/>
          <p:nvPr/>
        </p:nvSpPr>
        <p:spPr>
          <a:xfrm>
            <a:off x="7379280" y="503820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contrato guarda o PDF assinado como bytes. Bom para PDFs até ~5MB.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42"/>
          <p:cNvSpPr/>
          <p:nvPr/>
        </p:nvSpPr>
        <p:spPr>
          <a:xfrm>
            <a:off x="6995160" y="543168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43"/>
          <p:cNvSpPr/>
          <p:nvPr/>
        </p:nvSpPr>
        <p:spPr>
          <a:xfrm>
            <a:off x="6995160" y="5431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44"/>
          <p:cNvSpPr/>
          <p:nvPr/>
        </p:nvSpPr>
        <p:spPr>
          <a:xfrm>
            <a:off x="7379280" y="540396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responsavel_id → moradores.id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45"/>
          <p:cNvSpPr/>
          <p:nvPr/>
        </p:nvSpPr>
        <p:spPr>
          <a:xfrm>
            <a:off x="7379280" y="564192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síndico é um morador. FK evita duplicar dados cadastrais.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46"/>
          <p:cNvSpPr/>
          <p:nvPr/>
        </p:nvSpPr>
        <p:spPr>
          <a:xfrm>
            <a:off x="6995160" y="6035040"/>
            <a:ext cx="273960" cy="273960"/>
          </a:xfrm>
          <a:prstGeom prst="ellipse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47"/>
          <p:cNvSpPr/>
          <p:nvPr/>
        </p:nvSpPr>
        <p:spPr>
          <a:xfrm>
            <a:off x="69951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48"/>
          <p:cNvSpPr/>
          <p:nvPr/>
        </p:nvSpPr>
        <p:spPr>
          <a:xfrm>
            <a:off x="7379280" y="6007680"/>
            <a:ext cx="4416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CHECK de datas vira validação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49"/>
          <p:cNvSpPr/>
          <p:nvPr/>
        </p:nvSpPr>
        <p:spPr>
          <a:xfrm>
            <a:off x="7379280" y="6245280"/>
            <a:ext cx="4416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CHECK(dt_fim &gt;= dt_inicio) vira _validar_datas() em __post_init__.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50"/>
          <p:cNvSpPr/>
          <p:nvPr/>
        </p:nvSpPr>
        <p:spPr>
          <a:xfrm>
            <a:off x="457200" y="6492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51"/>
          <p:cNvSpPr/>
          <p:nvPr/>
        </p:nvSpPr>
        <p:spPr>
          <a:xfrm>
            <a:off x="8988480" y="6492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assinatura_condominio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 0"/>
          <p:cNvSpPr/>
          <p:nvPr/>
        </p:nvSpPr>
        <p:spPr>
          <a:xfrm>
            <a:off x="457200" y="32004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padrão universal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"/>
          <p:cNvSpPr/>
          <p:nvPr/>
        </p:nvSpPr>
        <p:spPr>
          <a:xfrm>
            <a:off x="457200" y="105156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As 9 tabelas — e qualquer futura tabela — seguem a mesma receita.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2"/>
          <p:cNvSpPr/>
          <p:nvPr/>
        </p:nvSpPr>
        <p:spPr>
          <a:xfrm>
            <a:off x="457200" y="1828800"/>
            <a:ext cx="5486040" cy="1599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3"/>
          <p:cNvSpPr/>
          <p:nvPr/>
        </p:nvSpPr>
        <p:spPr>
          <a:xfrm>
            <a:off x="640080" y="1920240"/>
            <a:ext cx="63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4"/>
          <p:cNvSpPr/>
          <p:nvPr/>
        </p:nvSpPr>
        <p:spPr>
          <a:xfrm>
            <a:off x="1463040" y="2011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Tabela vira classe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5"/>
          <p:cNvSpPr/>
          <p:nvPr/>
        </p:nvSpPr>
        <p:spPr>
          <a:xfrm>
            <a:off x="1463040" y="2468880"/>
            <a:ext cx="43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CREATE TABLE X (...) → @dataclass class X: ...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O nome da classe é o singular, em CamelCase.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6"/>
          <p:cNvSpPr/>
          <p:nvPr/>
        </p:nvSpPr>
        <p:spPr>
          <a:xfrm>
            <a:off x="6309360" y="1828800"/>
            <a:ext cx="5486040" cy="1599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7"/>
          <p:cNvSpPr/>
          <p:nvPr/>
        </p:nvSpPr>
        <p:spPr>
          <a:xfrm>
            <a:off x="6492240" y="1920240"/>
            <a:ext cx="63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8"/>
          <p:cNvSpPr/>
          <p:nvPr/>
        </p:nvSpPr>
        <p:spPr>
          <a:xfrm>
            <a:off x="7315200" y="2011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Coluna vira atributo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9"/>
          <p:cNvSpPr/>
          <p:nvPr/>
        </p:nvSpPr>
        <p:spPr>
          <a:xfrm>
            <a:off x="7315200" y="2468880"/>
            <a:ext cx="43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Uma coluna = um atributo com tipo anotado.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A ordem no SQL não precisa ser a mesma em Python.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10"/>
          <p:cNvSpPr/>
          <p:nvPr/>
        </p:nvSpPr>
        <p:spPr>
          <a:xfrm>
            <a:off x="457200" y="3657600"/>
            <a:ext cx="5486040" cy="1599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1"/>
          <p:cNvSpPr/>
          <p:nvPr/>
        </p:nvSpPr>
        <p:spPr>
          <a:xfrm>
            <a:off x="640080" y="3749040"/>
            <a:ext cx="63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2"/>
          <p:cNvSpPr/>
          <p:nvPr/>
        </p:nvSpPr>
        <p:spPr>
          <a:xfrm>
            <a:off x="1463040" y="38404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 NULL é obrigatório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3"/>
          <p:cNvSpPr/>
          <p:nvPr/>
        </p:nvSpPr>
        <p:spPr>
          <a:xfrm>
            <a:off x="1463040" y="4297680"/>
            <a:ext cx="43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Colunas NOT NULL viram campos sem '= None'.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Colunas nulas viram Optional[tipo] = None.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4"/>
          <p:cNvSpPr/>
          <p:nvPr/>
        </p:nvSpPr>
        <p:spPr>
          <a:xfrm>
            <a:off x="6309360" y="3657600"/>
            <a:ext cx="5486040" cy="1599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5"/>
          <p:cNvSpPr/>
          <p:nvPr/>
        </p:nvSpPr>
        <p:spPr>
          <a:xfrm>
            <a:off x="6492240" y="3749040"/>
            <a:ext cx="63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38B2AC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6"/>
          <p:cNvSpPr/>
          <p:nvPr/>
        </p:nvSpPr>
        <p:spPr>
          <a:xfrm>
            <a:off x="7315200" y="38404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 vira validação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7"/>
          <p:cNvSpPr/>
          <p:nvPr/>
        </p:nvSpPr>
        <p:spPr>
          <a:xfrm>
            <a:off x="7315200" y="4297680"/>
            <a:ext cx="43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Regras complexas do banco (CHECK, FK compostas)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viram métodos em __post_init__ da classe.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8"/>
          <p:cNvSpPr/>
          <p:nvPr/>
        </p:nvSpPr>
        <p:spPr>
          <a:xfrm>
            <a:off x="0" y="5852160"/>
            <a:ext cx="12188520" cy="639720"/>
          </a:xfrm>
          <a:prstGeom prst="rect">
            <a:avLst/>
          </a:prstGeom>
          <a:solidFill>
            <a:srgbClr val="38B2AC"/>
          </a:solidFill>
          <a:ln w="12700">
            <a:solidFill>
              <a:srgbClr val="38B2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9"/>
          <p:cNvSpPr/>
          <p:nvPr/>
        </p:nvSpPr>
        <p:spPr>
          <a:xfrm>
            <a:off x="457200" y="585216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A45"/>
                </a:solidFill>
                <a:effectLst/>
                <a:uFillTx/>
                <a:latin typeface="Calibri"/>
                <a:ea typeface="Calibri"/>
              </a:rPr>
              <a:t>Próxima aula: escreveremos o CRUD de cada tabela com sqlite3 + essas classes.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20"/>
          <p:cNvSpPr/>
          <p:nvPr/>
        </p:nvSpPr>
        <p:spPr>
          <a:xfrm>
            <a:off x="457200" y="65379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n7-portaria-ai  ·  Aula 03  ·  Do DBML ao Python  ·  Thiago &amp; Ademílson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  <Words>0</Words>
  <Paragraphs>0</Paragraphs>
  <Company>n7-portaria-ai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2026-04-23T22:02:48Z</dcterms:created>
  <dc:creator>Thiago &amp; Ademílson</dc:creator>
  <dc:description/>
  <dc:language>pt-BR</dc:language>
  <cp:lastModifiedBy/>
  <dcterms:modified xsi:type="dcterms:W3CDTF">2026-04-23T19:09:11Z</dcterms:modified>
  <cp:revision>4</cp:revision>
  <dc:subject>PptxGenJS Presentation</dc:subject>
  <dc:title>Do DBML ao Python — Mapeando o Domínio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