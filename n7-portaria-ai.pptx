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11.png"/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14.png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3" Type="http://schemas.openxmlformats.org/officeDocument/2006/relationships/notesSlide" Target="../notesSlides/notesSlide13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6.png"/><Relationship Id="rId10" Type="http://schemas.openxmlformats.org/officeDocument/2006/relationships/image" Target="../media/image2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1B3A5C">
              <a:alpha val="45000"/>
            </a:srgbClr>
          </a:solidFill>
          <a:ln w="12700">
            <a:solidFill>
              <a:srgbClr val="1B3A5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11480"/>
            <a:ext cx="2743200" cy="347472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APRESENTAÇÃO CONCEITUAL  |  202</a:t>
            </a:r>
            <a:r>
              <a:rPr lang="pt-BR" altLang="en-US" sz="900" b="1" kern="0" spc="100" dirty="0">
                <a:solidFill>
                  <a:srgbClr val="FFFFFF"/>
                </a:solidFill>
              </a:rPr>
              <a:t>6</a:t>
            </a:r>
            <a:endParaRPr lang="pt-BR" altLang="en-US" sz="900" b="1" kern="0" spc="10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7772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n7-portaria-</a:t>
            </a:r>
            <a:r>
              <a:rPr lang="en-US" sz="6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Portaria Inteligente com Inteligência Artificial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5486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Segurança moderna, conforto real e gestão inteligente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 o seu condomínio.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886200"/>
            <a:ext cx="201168" cy="201168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" y="388620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663440"/>
            <a:ext cx="64008" cy="4800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Reunião de Planejamento Inicial   •   n7 Tech   •   202</a:t>
            </a:r>
            <a:r>
              <a:rPr lang="pt-BR" altLang="en-US" sz="1200" dirty="0">
                <a:solidFill>
                  <a:srgbClr val="90E0EF"/>
                </a:solidFill>
              </a:rPr>
              <a:t>6</a:t>
            </a:r>
            <a:endParaRPr lang="pt-BR" altLang="en-US" sz="1200" dirty="0">
              <a:solidFill>
                <a:srgbClr val="90E0EF"/>
              </a:solidFill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7315200" y="1097280"/>
            <a:ext cx="1371600" cy="1371600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046720" y="2560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0"/>
            <a:ext cx="265176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que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vamos ver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hoje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28600" y="2560320"/>
            <a:ext cx="26517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Uma introdução à IA e ao projeto n7-portaria-ai para síndicos e moradores.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3017520" cy="4343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09160"/>
            <a:ext cx="2651760" cy="434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n7-portaria-ai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47548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365760"/>
            <a:ext cx="5120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Desafio: Segurança no Condomínio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46120" y="923544"/>
            <a:ext cx="5577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24815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2481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1138428"/>
            <a:ext cx="5120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que é Inteligência Artificial (IA)?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46120" y="1696212"/>
            <a:ext cx="5577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2020824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0208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1911096"/>
            <a:ext cx="5120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e Reconhecimento Facial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46120" y="2468880"/>
            <a:ext cx="5577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2793492"/>
            <a:ext cx="384048" cy="384048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7934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2683764"/>
            <a:ext cx="5120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Solução: Módulo 1 e Módulo 2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46120" y="3241548"/>
            <a:ext cx="5577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6120" y="3566160"/>
            <a:ext cx="384048" cy="384048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566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49040" y="3456432"/>
            <a:ext cx="5120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LGPD, Segurança e Privacidade dos Dados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246120" y="4014216"/>
            <a:ext cx="5577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4338828"/>
            <a:ext cx="384048" cy="384048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43388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49040" y="4229100"/>
            <a:ext cx="5120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Arquitetura, App de Gestão e Roadmap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Desafio do Condomínio Moderno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Como síndico, você provavelmente já se deparou com essas situações: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697480" cy="3246120"/>
          </a:xfrm>
          <a:prstGeom prst="rect">
            <a:avLst/>
          </a:prstGeom>
          <a:solidFill>
            <a:srgbClr val="FFF5F5"/>
          </a:solidFill>
          <a:ln w="19050">
            <a:solidFill>
              <a:srgbClr val="FC81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2697480" cy="6400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98448" y="1737360"/>
            <a:ext cx="822960" cy="8229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8745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6974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53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Acesso Inseguro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0352" y="3218688"/>
            <a:ext cx="23774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Chaves físicas e senhas que podem ser perdidas, copiadas ou compartilhadas sem controle algum.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18688" y="1508760"/>
            <a:ext cx="2697480" cy="3246120"/>
          </a:xfrm>
          <a:prstGeom prst="rect">
            <a:avLst/>
          </a:prstGeom>
          <a:solidFill>
            <a:srgbClr val="FFFAF0"/>
          </a:solidFill>
          <a:ln w="19050">
            <a:solidFill>
              <a:srgbClr val="FBD38D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18688" y="1508760"/>
            <a:ext cx="2697480" cy="6400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51376" y="1737360"/>
            <a:ext cx="822960" cy="82296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187452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55848" y="26974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56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Visitantes sem Controle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383280" y="3218688"/>
            <a:ext cx="23774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Difícil registrar e monitorar quem entra e sai — visitantes, prestadores e entregas ficam sem rastreio.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071616" y="1508760"/>
            <a:ext cx="2697480" cy="3246120"/>
          </a:xfrm>
          <a:prstGeom prst="rect">
            <a:avLst/>
          </a:prstGeom>
          <a:solidFill>
            <a:srgbClr val="EBF8FF"/>
          </a:solidFill>
          <a:ln w="19050">
            <a:solidFill>
              <a:srgbClr val="90CD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71616" y="1508760"/>
            <a:ext cx="2697480" cy="6400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04304" y="1737360"/>
            <a:ext cx="822960" cy="82296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4" y="187452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08776" y="26974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Portaria Manual e Cara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236208" y="3218688"/>
            <a:ext cx="23774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Porteiro 24h tem custo elevado e mesmo assim falhas humanas podem comprometer a segurança.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  A tecnologia pode resolver isso — de forma acessível, segura e em conformidade com a LGPD!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que é Inteligência Artificial?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E8F4FD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21792" y="112471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005840"/>
            <a:ext cx="7315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IA é como ensinar um computador a aprender com exemplos — assim como uma criança aprende a reconhecer um cachorro vendo vários cachorros, sem precisar memorizar cada regra.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2651760" cy="2743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1792" y="219456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21945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24028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" y="30358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Dados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21792" y="3547872"/>
            <a:ext cx="233172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computador precisa de muitos exemplos — fotos, números e textos — para começar a aprender.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108960" y="3063240"/>
            <a:ext cx="20116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BD5E1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3310128" y="2057400"/>
            <a:ext cx="2651760" cy="2743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474720" y="2194560"/>
            <a:ext cx="384048" cy="384048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74720" y="21945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2240280"/>
            <a:ext cx="685800" cy="685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47288" y="30358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84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Treinamento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3474720" y="3547872"/>
            <a:ext cx="233172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algoritmo estuda os exemplos, identifica padrões e aprende com os próprios erros.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961888" y="3063240"/>
            <a:ext cx="20116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BD5E1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6163056" y="2057400"/>
            <a:ext cx="2651760" cy="274320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27648" y="219456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327648" y="21945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2240280"/>
            <a:ext cx="685800" cy="6858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00216" y="30358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Decisão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6327648" y="3547872"/>
            <a:ext cx="233172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 o aprendizado, o sistema decide sozinho: "Este é o João? Pode entrar!"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0"/>
            <a:ext cx="338328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21488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Aprendizado de Máquina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20040" y="2743200"/>
            <a:ext cx="33832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 a área da IA onde o computador aprende automaticamente a partir de exemplos, sem precisar de regras programadas manualmente para cada situação.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38404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84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Você já usou ML sem saber: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4224528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Filtro de spam do e-mail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Recomendações da Netflix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Face ID do seu celular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0" y="2743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Como o ML aprende a reconhecer rostos: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06240" y="868680"/>
            <a:ext cx="4663440" cy="84124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868680"/>
            <a:ext cx="64008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5968" y="105156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1051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64608" y="91440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Coleta de Dados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64608" y="1289304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Milhares de fotos de rostos diferentes são reunidas como exemplos de treino.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0" y="17099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</a:rPr>
              <a:t>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06240" y="1892808"/>
            <a:ext cx="4663440" cy="84124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06240" y="1892808"/>
            <a:ext cx="64008" cy="84124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5968" y="2075688"/>
            <a:ext cx="457200" cy="457200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5968" y="20756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64608" y="1938528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Treinamento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64608" y="2313432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modelo analisa padrões: distância entre olhos, formato do rosto, proporções.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0" y="273405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06240" y="2916936"/>
            <a:ext cx="4663440" cy="84124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06240" y="2916936"/>
            <a:ext cx="64008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15968" y="3099816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15968" y="30998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64608" y="296265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 e Validação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64608" y="333756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modelo é testado com rostos novos. Erros são corrigidos até atingir alta precisão.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17920" y="3758184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</a:rPr>
              <a:t>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206240" y="3941064"/>
            <a:ext cx="4663440" cy="84124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06240" y="3941064"/>
            <a:ext cx="64008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15968" y="4123944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15968" y="41239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864608" y="3986784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Implantação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64608" y="4361688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modelo está pronto e começa a reconhecer rostos no mundo real em tempo real.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Como Funciona o Reconhecimento Facial?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etapas automáticas — tudo em menos de 1 segundo!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011680" cy="3383280"/>
          </a:xfrm>
          <a:prstGeom prst="rect">
            <a:avLst/>
          </a:prstGeom>
          <a:solidFill>
            <a:srgbClr val="1B3A5C">
              <a:alpha val="70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481328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32688" y="2148840"/>
            <a:ext cx="914400" cy="914400"/>
          </a:xfrm>
          <a:prstGeom prst="ellipse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860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200400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📷  Captura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721608"/>
            <a:ext cx="1847088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câmera fotografa o rosto da pessoa ao se aproximar da entrada.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377440" y="2377440"/>
            <a:ext cx="137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514600" y="1371600"/>
            <a:ext cx="2011680" cy="3383280"/>
          </a:xfrm>
          <a:prstGeom prst="rect">
            <a:avLst/>
          </a:prstGeom>
          <a:solidFill>
            <a:srgbClr val="1B3A5C">
              <a:alpha val="70000"/>
            </a:srgbClr>
          </a:solidFill>
          <a:ln w="19050">
            <a:solidFill>
              <a:srgbClr val="F484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624328" y="1481328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84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3081528" y="2148840"/>
            <a:ext cx="914400" cy="914400"/>
          </a:xfrm>
          <a:prstGeom prst="ellipse">
            <a:avLst/>
          </a:prstGeom>
          <a:solidFill>
            <a:srgbClr val="F4845F">
              <a:alpha val="75000"/>
            </a:srgbClr>
          </a:solidFill>
          <a:ln w="12700">
            <a:solidFill>
              <a:srgbClr val="F4845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228600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040" y="3200400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84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 Mapeamento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606040" y="3721608"/>
            <a:ext cx="1847088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IA mapeia ~68 pontos do rosto: olhos, nariz, boca e distâncias.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26280" y="2377440"/>
            <a:ext cx="137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663440" y="1371600"/>
            <a:ext cx="2011680" cy="3383280"/>
          </a:xfrm>
          <a:prstGeom prst="rect">
            <a:avLst/>
          </a:prstGeom>
          <a:solidFill>
            <a:srgbClr val="1B3A5C">
              <a:alpha val="7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773168" y="1481328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5230368" y="2148840"/>
            <a:ext cx="914400" cy="914400"/>
          </a:xfrm>
          <a:prstGeom prst="ellipse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2286000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54880" y="3200400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💾  Comparação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754880" y="3721608"/>
            <a:ext cx="1847088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Compara com os rostos dos moradores cadastrados no servidor local.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675120" y="2377440"/>
            <a:ext cx="137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6812280" y="1371600"/>
            <a:ext cx="2011680" cy="3383280"/>
          </a:xfrm>
          <a:prstGeom prst="rect">
            <a:avLst/>
          </a:prstGeom>
          <a:solidFill>
            <a:srgbClr val="1B3A5C">
              <a:alpha val="70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922008" y="1481328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Shape 22"/>
          <p:cNvSpPr/>
          <p:nvPr/>
        </p:nvSpPr>
        <p:spPr>
          <a:xfrm>
            <a:off x="7379208" y="2148840"/>
            <a:ext cx="914400" cy="914400"/>
          </a:xfrm>
          <a:prstGeom prst="ellipse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2286000"/>
            <a:ext cx="640080" cy="6400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03720" y="3200400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Decisão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721608"/>
            <a:ext cx="1847088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Confiança &gt; 99%: porta abre! Caso contrário: acesso negado.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Solução: n7-portaria-ai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Dois módulos de evolução — do simples ao completo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0233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69848"/>
            <a:ext cx="1234440" cy="429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69848"/>
            <a:ext cx="12344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MÓDULO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27632" y="1069848"/>
            <a:ext cx="1005840" cy="429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27632" y="1069848"/>
            <a:ext cx="10058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ATIVO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1115568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1207008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4360" y="166420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Portaria Facial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94360" y="219456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Reconhecimento facial para portas magnéticas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" y="283464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2798064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Câmera IoT + Mini servidor local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4360" y="323697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3200400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Reconhecimento facial em menos de 1s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4360" y="363931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" y="3602736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Cadastro de moradores e visitantes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94360" y="404164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4005072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Histórico completo de acessos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94360" y="4443984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4407408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Python para gestão local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54880" y="1005840"/>
            <a:ext cx="4023360" cy="3931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54880" y="1005840"/>
            <a:ext cx="4023360" cy="6400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54880" y="1069848"/>
            <a:ext cx="1234440" cy="4297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1069848"/>
            <a:ext cx="12344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MÓDULO 2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016752" y="1069848"/>
            <a:ext cx="1188720" cy="429768"/>
          </a:xfrm>
          <a:prstGeom prst="rect">
            <a:avLst/>
          </a:prstGeom>
          <a:solidFill>
            <a:srgbClr val="2D4A6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16752" y="1069848"/>
            <a:ext cx="118872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C8E8"/>
                </a:solidFill>
              </a:rPr>
              <a:t>EM BREVE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01000" y="1115568"/>
            <a:ext cx="594360" cy="594360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207008"/>
            <a:ext cx="411480" cy="41148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983480" y="166420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Acesso de Veículos</a:t>
            </a:r>
            <a:endParaRPr lang="en-US" sz="2400" dirty="0"/>
          </a:p>
        </p:txBody>
      </p:sp>
      <p:sp>
        <p:nvSpPr>
          <p:cNvPr id="35" name="Text 31"/>
          <p:cNvSpPr/>
          <p:nvPr/>
        </p:nvSpPr>
        <p:spPr>
          <a:xfrm>
            <a:off x="4983480" y="219456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DBC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Leitura de placas e reconhecimento no portão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4983480" y="2834640"/>
            <a:ext cx="182880" cy="182880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257800" y="2798064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Câmera LPR para leitura de placas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4983480" y="3236976"/>
            <a:ext cx="182880" cy="182880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257800" y="3200400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Reconhecimento facial no portão veicular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4983480" y="3639312"/>
            <a:ext cx="182880" cy="182880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257800" y="3602736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Vínculo veículo ↔ morador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4983480" y="4041648"/>
            <a:ext cx="182880" cy="182880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257800" y="4005072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Controle de visitantes com veículo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4983480" y="4443984"/>
            <a:ext cx="182880" cy="182880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257800" y="4407408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mobile personalizado (evolução)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Módulo 1 — Portaria Facial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32320" y="201168"/>
            <a:ext cx="1645920" cy="4572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01168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INICIAL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Fluxo de Acesso: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527048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270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499616"/>
            <a:ext cx="3474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Morador se aproxima da porta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" y="1892808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93976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9397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2066544"/>
            <a:ext cx="3474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Câmera IoT captura o rosto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" y="2459736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60904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609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2633472"/>
            <a:ext cx="3474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IA compara com banco de dados local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0936" y="3026664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2783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278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200400"/>
            <a:ext cx="3474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Porta magnética é liberada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365760" cy="36576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3767328"/>
            <a:ext cx="3474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Rosto desconhecido → acesso negado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54880" y="100584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que o App de Gestão faz: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54880" y="1508760"/>
            <a:ext cx="4023360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508760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1618488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709928"/>
            <a:ext cx="256032" cy="25603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440680" y="1508760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Cadastro de moradores com biometria facial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754880" y="2331720"/>
            <a:ext cx="4023360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54880" y="2331720"/>
            <a:ext cx="64008" cy="68580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892040" y="2441448"/>
            <a:ext cx="438912" cy="438912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532888"/>
            <a:ext cx="256032" cy="25603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440680" y="2331720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Registro de visitantes temporários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4754880" y="3154680"/>
            <a:ext cx="4023360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4754880" y="3154680"/>
            <a:ext cx="64008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892040" y="3264408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355848"/>
            <a:ext cx="256032" cy="25603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440680" y="3154680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Histórico completo de acessos com horário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4754880" y="3977640"/>
            <a:ext cx="4023360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4754880" y="3977640"/>
            <a:ext cx="64008" cy="6858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4892040" y="4087368"/>
            <a:ext cx="438912" cy="43891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4178808"/>
            <a:ext cx="256032" cy="256032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440680" y="3977640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Bloqueio e desbloqueio de usuários</a:t>
            </a:r>
            <a:endParaRPr lang="en-US" sz="1300" dirty="0"/>
          </a:p>
        </p:txBody>
      </p:sp>
      <p:sp>
        <p:nvSpPr>
          <p:cNvPr id="46" name="Shape 40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457200" y="4663440"/>
            <a:ext cx="64008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685800" y="4663440"/>
            <a:ext cx="7909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Fase inicial: Interface em Python local — simples e funcional. App mobile como evolução planejada no Módulo 2.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74320"/>
            <a:ext cx="1828800" cy="38404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2 — EM BREVE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Acesso Inteligente de Veículos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DBC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Tecnologia de leitura de placas (LPR) + reconhecimento facial no portão de entrada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4206240" cy="1143000"/>
          </a:xfrm>
          <a:prstGeom prst="rect">
            <a:avLst/>
          </a:prstGeom>
          <a:solidFill>
            <a:srgbClr val="1B3A5C">
              <a:alpha val="80000"/>
            </a:srgbClr>
          </a:solidFill>
          <a:ln w="12700">
            <a:solidFill>
              <a:srgbClr val="F4845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2404872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4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Leitura de Placa (LPR)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2807208"/>
            <a:ext cx="329184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Câmera especializada lê automaticamente a placa do veículo ao se aproximar do portão.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54880" y="2331720"/>
            <a:ext cx="4206240" cy="1143000"/>
          </a:xfrm>
          <a:prstGeom prst="rect">
            <a:avLst/>
          </a:prstGeom>
          <a:solidFill>
            <a:srgbClr val="1B3A5C">
              <a:alpha val="8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92040" y="265176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743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2404872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Facial no Portão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532120" y="2807208"/>
            <a:ext cx="329184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Complementar à placa: o motorista também pode usar reconhecimento facial.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20040" y="3657600"/>
            <a:ext cx="4206240" cy="1143000"/>
          </a:xfrm>
          <a:prstGeom prst="rect">
            <a:avLst/>
          </a:prstGeom>
          <a:solidFill>
            <a:srgbClr val="1B3A5C">
              <a:alpha val="80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6908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7280" y="3730752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Vínculo Morador-Veículo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097280" y="4133088"/>
            <a:ext cx="329184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Cada veículo fica associado a um morador. Visitantes são cadastrados com limite de tempo.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754880" y="3657600"/>
            <a:ext cx="4206240" cy="1143000"/>
          </a:xfrm>
          <a:prstGeom prst="rect">
            <a:avLst/>
          </a:prstGeom>
          <a:solidFill>
            <a:srgbClr val="1B3A5C">
              <a:alpha val="8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92040" y="39776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406908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32120" y="3730752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Mobile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532120" y="4133088"/>
            <a:ext cx="329184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Gestão remota completa via smartphone — liberações, cadastros e histórico.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LGPD &amp; Segurança dos Dados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Privacidade é um pilar do projeto — não um detalhe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14300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26187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024128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Processamento 100% LOCAL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08760" y="1481328"/>
            <a:ext cx="6949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Todas as fotos e dados biométricos ficam no mini servidor do próprio condomínio. Nenhum dado sai para a nuvem.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148840"/>
            <a:ext cx="4114800" cy="11430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" y="246888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61872" y="2221992"/>
            <a:ext cx="318211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Consentimento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261872" y="2624328"/>
            <a:ext cx="3182112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Moradores autorizam expressamente o uso de seus dados biométricos no ato do cadastro.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800600" y="2148840"/>
            <a:ext cx="4114800" cy="1143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BD38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65192" y="2468880"/>
            <a:ext cx="502920" cy="502920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25603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605272" y="2221992"/>
            <a:ext cx="318211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4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Finalidade Específica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605272" y="2624328"/>
            <a:ext cx="3182112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Dados usados exclusivamente para controle de acesso — nenhum outro uso.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" y="3474720"/>
            <a:ext cx="4114800" cy="1143000"/>
          </a:xfrm>
          <a:prstGeom prst="rect">
            <a:avLst/>
          </a:prstGeom>
          <a:solidFill>
            <a:srgbClr val="F0FFF4"/>
          </a:solidFill>
          <a:ln w="12700">
            <a:solidFill>
              <a:srgbClr val="9AE6B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1792" y="3794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8862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61872" y="3547872"/>
            <a:ext cx="318211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Segurança dos Dados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261872" y="3950208"/>
            <a:ext cx="3182112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Armazenamento criptografado, acesso restrito e auditoria de acessos no sistema.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800600" y="3474720"/>
            <a:ext cx="4114800" cy="1143000"/>
          </a:xfrm>
          <a:prstGeom prst="rect">
            <a:avLst/>
          </a:prstGeom>
          <a:solidFill>
            <a:srgbClr val="DDD6FE"/>
          </a:solidFill>
          <a:ln w="12700">
            <a:solidFill>
              <a:srgbClr val="C4B5F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965192" y="379476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388620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605272" y="3547872"/>
            <a:ext cx="318211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Direito ao Apagamento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5605272" y="3950208"/>
            <a:ext cx="3182112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qualquer momento o morador pode solicitar remoção total de seus dados do sistema.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Arquitetura Técnica do Sistema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simples, tecnologia poderosa, dados locais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20240" cy="30175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417320"/>
            <a:ext cx="914400" cy="91440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544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450592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Câmera IP/USB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92608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Alta resolução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4-8 MP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30fps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377440" y="2395728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BD5E1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06040" y="1188720"/>
            <a:ext cx="1920240" cy="3017520"/>
          </a:xfrm>
          <a:prstGeom prst="rect">
            <a:avLst/>
          </a:prstGeom>
          <a:solidFill>
            <a:srgbClr val="1A3A5C"/>
          </a:solidFill>
          <a:ln w="19050">
            <a:solidFill>
              <a:srgbClr val="F484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08960" y="1417320"/>
            <a:ext cx="914400" cy="914400"/>
          </a:xfrm>
          <a:prstGeom prst="ellipse">
            <a:avLst/>
          </a:prstGeom>
          <a:solidFill>
            <a:srgbClr val="F4845F">
              <a:alpha val="80000"/>
            </a:srgbClr>
          </a:solidFill>
          <a:ln w="12700">
            <a:solidFill>
              <a:srgbClr val="F4845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55448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97480" y="2450592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4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 Servidor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97480" y="292608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Raspberry Pi 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 Mini PC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(local, IoT)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26280" y="2395728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BD5E1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4754880" y="1188720"/>
            <a:ext cx="1920240" cy="3017520"/>
          </a:xfrm>
          <a:prstGeom prst="rect">
            <a:avLst/>
          </a:prstGeom>
          <a:solidFill>
            <a:srgbClr val="2D1B69"/>
          </a:solidFill>
          <a:ln w="190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257800" y="1417320"/>
            <a:ext cx="914400" cy="91440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55448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2450592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Controlador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46320" y="292608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Módulo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 para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fechadura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675120" y="2395728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BD5E1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6903720" y="1188720"/>
            <a:ext cx="1920240" cy="3017520"/>
          </a:xfrm>
          <a:prstGeom prst="rect">
            <a:avLst/>
          </a:prstGeom>
          <a:solidFill>
            <a:srgbClr val="065F46"/>
          </a:solidFill>
          <a:ln w="1905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406640" y="1417320"/>
            <a:ext cx="914400" cy="91440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554480"/>
            <a:ext cx="640080" cy="6400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95160" y="2450592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Porta/Portão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995160" y="292608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Fechadura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magnética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eletromagnética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1463040" y="4206240"/>
            <a:ext cx="0" cy="320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30" name="Shape 24"/>
          <p:cNvSpPr/>
          <p:nvPr/>
        </p:nvSpPr>
        <p:spPr>
          <a:xfrm>
            <a:off x="457200" y="4526280"/>
            <a:ext cx="2103120" cy="4297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626864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14400" y="4526280"/>
            <a:ext cx="15544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Python (local)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3383280" y="4206240"/>
            <a:ext cx="0" cy="320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34" name="Shape 27"/>
          <p:cNvSpPr/>
          <p:nvPr/>
        </p:nvSpPr>
        <p:spPr>
          <a:xfrm>
            <a:off x="2697480" y="4526280"/>
            <a:ext cx="2011680" cy="429768"/>
          </a:xfrm>
          <a:prstGeom prst="rect">
            <a:avLst/>
          </a:prstGeom>
          <a:solidFill>
            <a:srgbClr val="1A3A5C"/>
          </a:solidFill>
          <a:ln w="12700">
            <a:solidFill>
              <a:srgbClr val="F4845F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4626864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154680" y="4526280"/>
            <a:ext cx="14630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DBC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Dados Local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5029200" y="4343400"/>
            <a:ext cx="3657600" cy="612648"/>
          </a:xfrm>
          <a:prstGeom prst="rect">
            <a:avLst/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5029200" y="4343400"/>
            <a:ext cx="64008" cy="6126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166360" y="4343400"/>
            <a:ext cx="342900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Tudo fica no condomínio — sem nuvem, sem servidores externos. Alinhado à LGPD.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Arquitetura de Camadas — Clean Code Minimalista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Separação clara de responsabilidades, fácil de manter e evoluir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749040" cy="3886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374904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005840"/>
            <a:ext cx="3474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📁  n7-portaria-ai/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845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core/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84251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├── entities/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11226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│   Morador, Visitante, Evento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38201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└── use_cases/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    Reconhecer, Cadastrar, Liberar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2150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infra/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19125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├── camera/   (OpenCV)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46100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├── door/     (GPIO/relay)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7307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└── database/ (SQLite local)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0005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interface/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2702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└── cli/      (App Python local)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53999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└── main.py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1005840"/>
            <a:ext cx="4389120" cy="841248"/>
          </a:xfrm>
          <a:prstGeom prst="rect">
            <a:avLst/>
          </a:prstGeom>
          <a:solidFill>
            <a:srgbClr val="0D2E4A"/>
          </a:solidFill>
          <a:ln w="1905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1005840"/>
            <a:ext cx="64008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53712" y="118872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152" y="128016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166360" y="1042416"/>
            <a:ext cx="3456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166360" y="1389888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CLI Python (interface/cli/)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166360" y="1609344"/>
            <a:ext cx="34564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Entrada do usuário → chama use cases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309360" y="1847088"/>
            <a:ext cx="36576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↓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389120" y="1965960"/>
            <a:ext cx="4389120" cy="841248"/>
          </a:xfrm>
          <a:prstGeom prst="rect">
            <a:avLst/>
          </a:prstGeom>
          <a:solidFill>
            <a:srgbClr val="2A1A0A"/>
          </a:solidFill>
          <a:ln w="19050">
            <a:solidFill>
              <a:srgbClr val="F4845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389120" y="1965960"/>
            <a:ext cx="64008" cy="84124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53712" y="2148840"/>
            <a:ext cx="457200" cy="457200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240280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166360" y="2002536"/>
            <a:ext cx="3456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84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Casos de Uso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5166360" y="2350008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Lógica de negócio (core/use_cases/)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5166360" y="2569464"/>
            <a:ext cx="34564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Orquestra entidades e infraestrutura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309360" y="2807208"/>
            <a:ext cx="36576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↓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4389120" y="2926080"/>
            <a:ext cx="4389120" cy="841248"/>
          </a:xfrm>
          <a:prstGeom prst="rect">
            <a:avLst/>
          </a:prstGeom>
          <a:solidFill>
            <a:srgbClr val="0A2A1A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4389120" y="2926080"/>
            <a:ext cx="64008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553712" y="31089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3200400"/>
            <a:ext cx="274320" cy="27432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166360" y="2962656"/>
            <a:ext cx="3456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Entidades</a:t>
            </a:r>
            <a:endParaRPr lang="en-US" sz="1500" dirty="0"/>
          </a:p>
        </p:txBody>
      </p:sp>
      <p:sp>
        <p:nvSpPr>
          <p:cNvPr id="42" name="Text 37"/>
          <p:cNvSpPr/>
          <p:nvPr/>
        </p:nvSpPr>
        <p:spPr>
          <a:xfrm>
            <a:off x="5166360" y="3310128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Domínio puro (core/entities/)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5166360" y="3529584"/>
            <a:ext cx="34564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 dependências externas — regras centrais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6309360" y="3767328"/>
            <a:ext cx="36576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↓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4389120" y="3886200"/>
            <a:ext cx="4389120" cy="841248"/>
          </a:xfrm>
          <a:prstGeom prst="rect">
            <a:avLst/>
          </a:prstGeom>
          <a:solidFill>
            <a:srgbClr val="1A0A2A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4389120" y="3886200"/>
            <a:ext cx="64008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4553712" y="40690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4160520"/>
            <a:ext cx="274320" cy="27432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5166360" y="3922776"/>
            <a:ext cx="3456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Infraestrutura</a:t>
            </a:r>
            <a:endParaRPr lang="en-US" sz="1500" dirty="0"/>
          </a:p>
        </p:txBody>
      </p:sp>
      <p:sp>
        <p:nvSpPr>
          <p:cNvPr id="50" name="Text 44"/>
          <p:cNvSpPr/>
          <p:nvPr/>
        </p:nvSpPr>
        <p:spPr>
          <a:xfrm>
            <a:off x="5166360" y="4270248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Câmera, SQLite, GPIO (infra/)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5166360" y="4489704"/>
            <a:ext cx="34564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 as interfaces do core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4389120" y="4663440"/>
            <a:ext cx="4389120" cy="347472"/>
          </a:xfrm>
          <a:prstGeom prst="rect">
            <a:avLst/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4389120" y="4663440"/>
            <a:ext cx="6400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4572000" y="466344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Princípio: dependências sempre apontam para dentro (core não conhece infra).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de Gestão — Fase a Fase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84048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058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AGORA — Interface Python Local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664208"/>
            <a:ext cx="3474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" y="176479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8288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1664208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Cadastrar moradores com foto facial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286000"/>
            <a:ext cx="3474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58368" y="2386584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45059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286000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Registrar visitantes temporários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2907792"/>
            <a:ext cx="3474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368" y="3008376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072384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2907792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Consultar histórico de acessos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529584"/>
            <a:ext cx="3474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58368" y="363016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694176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3529584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Bloquear/desbloquear usuários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548640" y="4151376"/>
            <a:ext cx="3474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58368" y="4251960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4315968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4151376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Configurações do sistema e câmera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4754880" y="1005840"/>
            <a:ext cx="40233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4754880" y="1005840"/>
            <a:ext cx="4023360" cy="50292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097280"/>
            <a:ext cx="320040" cy="3200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349240" y="100584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FUTURO — App Mobile Personalizado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4937760" y="1664208"/>
            <a:ext cx="3474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5047488" y="1764792"/>
            <a:ext cx="329184" cy="329184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1496" y="1828800"/>
            <a:ext cx="201168" cy="20116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486400" y="1664208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Gestão remota de qualquer lugar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4937760" y="2286000"/>
            <a:ext cx="3474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047488" y="2386584"/>
            <a:ext cx="329184" cy="329184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496" y="2450592"/>
            <a:ext cx="201168" cy="20116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486400" y="2286000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Notificações em tempo real de acessos</a:t>
            </a:r>
            <a:endParaRPr lang="en-US" sz="1250" dirty="0"/>
          </a:p>
        </p:txBody>
      </p:sp>
      <p:sp>
        <p:nvSpPr>
          <p:cNvPr id="40" name="Shape 29"/>
          <p:cNvSpPr/>
          <p:nvPr/>
        </p:nvSpPr>
        <p:spPr>
          <a:xfrm>
            <a:off x="4937760" y="2907792"/>
            <a:ext cx="3474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5047488" y="3008376"/>
            <a:ext cx="329184" cy="329184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1496" y="3072384"/>
            <a:ext cx="201168" cy="20116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486400" y="2907792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Controle do portão de veículos (M2)</a:t>
            </a:r>
            <a:endParaRPr lang="en-US" sz="1250" dirty="0"/>
          </a:p>
        </p:txBody>
      </p:sp>
      <p:sp>
        <p:nvSpPr>
          <p:cNvPr id="44" name="Shape 32"/>
          <p:cNvSpPr/>
          <p:nvPr/>
        </p:nvSpPr>
        <p:spPr>
          <a:xfrm>
            <a:off x="4937760" y="3529584"/>
            <a:ext cx="3474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5047488" y="3630168"/>
            <a:ext cx="329184" cy="329184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3694176"/>
            <a:ext cx="201168" cy="201168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5486400" y="3529584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Aprovar visitantes pelo celular</a:t>
            </a:r>
            <a:endParaRPr lang="en-US" sz="1250" dirty="0"/>
          </a:p>
        </p:txBody>
      </p:sp>
      <p:sp>
        <p:nvSpPr>
          <p:cNvPr id="48" name="Shape 35"/>
          <p:cNvSpPr/>
          <p:nvPr/>
        </p:nvSpPr>
        <p:spPr>
          <a:xfrm>
            <a:off x="4937760" y="4151376"/>
            <a:ext cx="3474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5047488" y="4251960"/>
            <a:ext cx="329184" cy="329184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1496" y="4315968"/>
            <a:ext cx="201168" cy="201168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5486400" y="4151376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de segurança e relatórios</a:t>
            </a:r>
            <a:endParaRPr lang="en-US" sz="1250" dirty="0"/>
          </a:p>
        </p:txBody>
      </p:sp>
      <p:sp>
        <p:nvSpPr>
          <p:cNvPr id="52" name="Shape 38"/>
          <p:cNvSpPr/>
          <p:nvPr/>
        </p:nvSpPr>
        <p:spPr>
          <a:xfrm>
            <a:off x="4297680" y="2651760"/>
            <a:ext cx="502920" cy="50292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39"/>
          <p:cNvSpPr/>
          <p:nvPr/>
        </p:nvSpPr>
        <p:spPr>
          <a:xfrm>
            <a:off x="4297680" y="2651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 de Desenvolvimento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Engenharia de software em 4 fases — do conceito ao produto completo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54864"/>
          </a:xfrm>
          <a:prstGeom prst="rect">
            <a:avLst/>
          </a:prstGeom>
          <a:solidFill>
            <a:srgbClr val="2D4A6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712" y="144475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56232"/>
            <a:ext cx="1965960" cy="3474720"/>
          </a:xfrm>
          <a:prstGeom prst="rect">
            <a:avLst/>
          </a:prstGeom>
          <a:solidFill>
            <a:srgbClr val="1B3A5C">
              <a:alpha val="80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56232"/>
            <a:ext cx="196596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74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21488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Mês 1–2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993392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542032"/>
            <a:ext cx="17830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Infraestrutura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11810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304495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Seleção e setup do hardware IoT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62102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" y="354787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Câmera + fechadura magnética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412394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405079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Ambiente de desenvolvimento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462686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7824" y="455371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Prova de conceito de reconhecimento facial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0" y="1444752"/>
            <a:ext cx="274320" cy="274320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624328" y="1856232"/>
            <a:ext cx="1965960" cy="3474720"/>
          </a:xfrm>
          <a:prstGeom prst="rect">
            <a:avLst/>
          </a:prstGeom>
          <a:solidFill>
            <a:srgbClr val="1B3A5C">
              <a:alpha val="80000"/>
            </a:srgbClr>
          </a:solidFill>
          <a:ln w="19050">
            <a:solidFill>
              <a:srgbClr val="F484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624328" y="1856232"/>
            <a:ext cx="1965960" cy="59436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97480" y="1874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FASE 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697480" y="21488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Mês 3–5</a:t>
            </a:r>
            <a:endParaRPr lang="en-US" sz="11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1993392"/>
            <a:ext cx="320040" cy="3200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715768" y="2542032"/>
            <a:ext cx="17830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4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Módulo 1 — Facial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2715768" y="3118104"/>
            <a:ext cx="164592" cy="164592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953512" y="304495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 de reconhecimento facial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715768" y="3621024"/>
            <a:ext cx="164592" cy="164592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953512" y="354787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Python de cadastro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2715768" y="4123944"/>
            <a:ext cx="164592" cy="164592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953512" y="405079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Integração câmera ↔ fechadura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2715768" y="4626864"/>
            <a:ext cx="164592" cy="164592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953512" y="455371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Testes de campo e ajustes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276088" y="144475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700016" y="1856232"/>
            <a:ext cx="1965960" cy="3474720"/>
          </a:xfrm>
          <a:prstGeom prst="rect">
            <a:avLst/>
          </a:prstGeom>
          <a:solidFill>
            <a:srgbClr val="1B3A5C">
              <a:alpha val="8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4700016" y="1856232"/>
            <a:ext cx="196596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773168" y="1874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FASE 3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4773168" y="21488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Mês 6–8</a:t>
            </a:r>
            <a:endParaRPr lang="en-US" sz="1100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993392"/>
            <a:ext cx="320040" cy="32004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4791456" y="2542032"/>
            <a:ext cx="17830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Refinamento</a:t>
            </a:r>
            <a:endParaRPr lang="en-US" sz="1400" dirty="0"/>
          </a:p>
        </p:txBody>
      </p:sp>
      <p:sp>
        <p:nvSpPr>
          <p:cNvPr id="42" name="Shape 37"/>
          <p:cNvSpPr/>
          <p:nvPr/>
        </p:nvSpPr>
        <p:spPr>
          <a:xfrm>
            <a:off x="4791456" y="3118104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029200" y="304495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Precisão &gt; 99% e performance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4791456" y="3621024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5029200" y="354787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Gestão de visitantes temporários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4791456" y="4123944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029200" y="405079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Histórico e logs de auditoria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4791456" y="4626864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5029200" y="455371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Documentação e treinamento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7351776" y="1444752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6775704" y="1856232"/>
            <a:ext cx="1965960" cy="3474720"/>
          </a:xfrm>
          <a:prstGeom prst="rect">
            <a:avLst/>
          </a:prstGeom>
          <a:solidFill>
            <a:srgbClr val="1B3A5C">
              <a:alpha val="80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2" name="Shape 47"/>
          <p:cNvSpPr/>
          <p:nvPr/>
        </p:nvSpPr>
        <p:spPr>
          <a:xfrm>
            <a:off x="6775704" y="1856232"/>
            <a:ext cx="196596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848856" y="1874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FASE 4</a:t>
            </a:r>
            <a:endParaRPr lang="en-US" sz="1000" dirty="0"/>
          </a:p>
        </p:txBody>
      </p:sp>
      <p:sp>
        <p:nvSpPr>
          <p:cNvPr id="54" name="Text 49"/>
          <p:cNvSpPr/>
          <p:nvPr/>
        </p:nvSpPr>
        <p:spPr>
          <a:xfrm>
            <a:off x="6848856" y="21488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Mês 9–12</a:t>
            </a:r>
            <a:endParaRPr lang="en-US" sz="1100" dirty="0"/>
          </a:p>
        </p:txBody>
      </p:sp>
      <p:pic>
        <p:nvPicPr>
          <p:cNvPr id="5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1993392"/>
            <a:ext cx="320040" cy="320040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6867144" y="2542032"/>
            <a:ext cx="17830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Módulo 2 — Veículos</a:t>
            </a:r>
            <a:endParaRPr lang="en-US" sz="1400" dirty="0"/>
          </a:p>
        </p:txBody>
      </p:sp>
      <p:sp>
        <p:nvSpPr>
          <p:cNvPr id="57" name="Shape 51"/>
          <p:cNvSpPr/>
          <p:nvPr/>
        </p:nvSpPr>
        <p:spPr>
          <a:xfrm>
            <a:off x="6867144" y="31181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7104888" y="304495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Leitura de placas (LPR)</a:t>
            </a:r>
            <a:endParaRPr lang="en-US" sz="1100" dirty="0"/>
          </a:p>
        </p:txBody>
      </p:sp>
      <p:sp>
        <p:nvSpPr>
          <p:cNvPr id="59" name="Shape 53"/>
          <p:cNvSpPr/>
          <p:nvPr/>
        </p:nvSpPr>
        <p:spPr>
          <a:xfrm>
            <a:off x="6867144" y="362102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7104888" y="354787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Integração portão veicular</a:t>
            </a:r>
            <a:endParaRPr lang="en-US" sz="1100" dirty="0"/>
          </a:p>
        </p:txBody>
      </p:sp>
      <p:sp>
        <p:nvSpPr>
          <p:cNvPr id="61" name="Shape 55"/>
          <p:cNvSpPr/>
          <p:nvPr/>
        </p:nvSpPr>
        <p:spPr>
          <a:xfrm>
            <a:off x="6867144" y="412394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7104888" y="405079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mobile (início)</a:t>
            </a:r>
            <a:endParaRPr lang="en-US" sz="1100" dirty="0"/>
          </a:p>
        </p:txBody>
      </p:sp>
      <p:sp>
        <p:nvSpPr>
          <p:cNvPr id="63" name="Shape 57"/>
          <p:cNvSpPr/>
          <p:nvPr/>
        </p:nvSpPr>
        <p:spPr>
          <a:xfrm>
            <a:off x="6867144" y="462686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7104888" y="455371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e monitoramento</a:t>
            </a:r>
            <a:endParaRPr lang="en-US" sz="1100" dirty="0"/>
          </a:p>
        </p:txBody>
      </p:sp>
      <p:sp>
        <p:nvSpPr>
          <p:cNvPr id="65" name="Text 59"/>
          <p:cNvSpPr/>
          <p:nvPr/>
        </p:nvSpPr>
        <p:spPr>
          <a:xfrm>
            <a:off x="548640" y="914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Mês 1–2</a:t>
            </a:r>
            <a:endParaRPr lang="en-US" sz="1200" dirty="0"/>
          </a:p>
        </p:txBody>
      </p:sp>
      <p:sp>
        <p:nvSpPr>
          <p:cNvPr id="66" name="Text 60"/>
          <p:cNvSpPr/>
          <p:nvPr/>
        </p:nvSpPr>
        <p:spPr>
          <a:xfrm>
            <a:off x="2624328" y="914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84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Mês 3–5</a:t>
            </a:r>
            <a:endParaRPr lang="en-US" sz="1200" dirty="0"/>
          </a:p>
        </p:txBody>
      </p:sp>
      <p:sp>
        <p:nvSpPr>
          <p:cNvPr id="67" name="Text 61"/>
          <p:cNvSpPr/>
          <p:nvPr/>
        </p:nvSpPr>
        <p:spPr>
          <a:xfrm>
            <a:off x="4700016" y="914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Mês 6–8</a:t>
            </a:r>
            <a:endParaRPr lang="en-US" sz="1200" dirty="0"/>
          </a:p>
        </p:txBody>
      </p:sp>
      <p:sp>
        <p:nvSpPr>
          <p:cNvPr id="68" name="Text 62"/>
          <p:cNvSpPr/>
          <p:nvPr/>
        </p:nvSpPr>
        <p:spPr>
          <a:xfrm>
            <a:off x="6775704" y="914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Mês 9–12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943600" cy="5943600"/>
          </a:xfrm>
          <a:prstGeom prst="ellipse">
            <a:avLst/>
          </a:prstGeom>
          <a:solidFill>
            <a:srgbClr val="1B3A5C">
              <a:alpha val="40000"/>
            </a:srgbClr>
          </a:solidFill>
          <a:ln w="12700">
            <a:solidFill>
              <a:srgbClr val="1B3A5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Vamos Debater!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Pontos para discussão nesta reunião: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4767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476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disponível e orçamento inicial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23744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2374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450592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Quantidade de portas/portões a integrar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099816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9981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026664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Fluxo de cadastro e aprovação de moradores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675888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7588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602736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LGPD: termos de uso e consentimento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519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178808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Prioridades do Módulo 1 e critérios de sucesso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365760"/>
            <a:ext cx="2377440" cy="43891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0" y="365760"/>
            <a:ext cx="23774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54864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n7-portaria-ai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0" y="1115568"/>
            <a:ext cx="201168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26187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Módulo 1: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126187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Portaria Facial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18288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84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Módulo 2: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0" y="18288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Acesso Veicular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239572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Dados: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239572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Locais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2962656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LGPD: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0" y="2962656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Conformidade Total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3529584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Stack: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0" y="3529584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+ IoT + IA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09160"/>
            <a:ext cx="64008" cy="4343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709160"/>
            <a:ext cx="8503920" cy="434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8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n7 Tech  •  202</a:t>
            </a:r>
            <a:r>
              <a:rPr lang="pt-BR" altLang="en-US" sz="1200" dirty="0">
                <a:solidFill>
                  <a:srgbClr val="5D8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en-US" sz="1200" dirty="0">
                <a:solidFill>
                  <a:srgbClr val="5D8B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•  Projeto n7-portaria-ai  •  Reunião de Planejamento Inicial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7579</Words>
  <Application>WPS Presentation</Application>
  <PresentationFormat>On-screen Show (16:9)</PresentationFormat>
  <Paragraphs>536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n7-portaria-ai — Portaria Inteligente com IA</dc:title>
  <dc:creator>n7 Tech</dc:creator>
  <dc:subject>PptxGenJS Presentation</dc:subject>
  <cp:lastModifiedBy>tgg_</cp:lastModifiedBy>
  <cp:revision>2</cp:revision>
  <dcterms:created xsi:type="dcterms:W3CDTF">2026-03-27T23:14:00Z</dcterms:created>
  <dcterms:modified xsi:type="dcterms:W3CDTF">2026-03-27T23:22:01Z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600C03D0D1704E8D9DF0005B3F8CB332_12</vt:lpwstr>
  </property>
  <property fmtid="{D5CDD505-2E9C-101B-9397-08002B2CF9AE}" pid="3" name="KSOProductBuildVer">
    <vt:lpwstr>1046-12.2.0.23196</vt:lpwstr>
  </property>
</Properties>
</file>